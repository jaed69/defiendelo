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c62e9a8c-944e-1ac0-4f1a-48f4ef35308a}">
          <p14:sldIdLst>
            <p14:sldId id="256"/>
          </p14:sldIdLst>
        </p14:section>
        <p14:section name="Por qué" id="{50d0a1e1-e5c0-21a7-59c6-3d295f0fc333}">
          <p14:sldIdLst>
            <p14:sldId id="257"/>
            <p14:sldId id="258"/>
            <p14:sldId id="259"/>
          </p14:sldIdLst>
        </p14:section>
        <p14:section name="Cómo" id="{9f5fe661-a706-f4f6-479c-cfc89432f5e5}">
          <p14:sldIdLst>
            <p14:sldId id="260"/>
          </p14:sldIdLst>
        </p14:section>
        <p14:section name="Qué" id="{641654ff-ecae-d6e4-33f6-60384cc905df}">
          <p14:sldIdLst>
            <p14:sldId id="261"/>
            <p14:sldId id="262"/>
            <p14:sldId id="263"/>
            <p14:sldId id="264"/>
          </p14:sldIdLst>
        </p14:section>
        <p14:section name="Cierre" id="{6dc0fb12-2f19-d2ec-245e-1dba86b9f018}">
          <p14:sldIdLst>
            <p14:sldId id="265"/>
          </p14:sldIdLst>
        </p14:section>
        <p14:section name="Respaldo" id="{0f4fed3b-db25-5aa6-f13e-2aef5edf20af}">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0:00–0:10. Somos Defiéndelo. Nuestra idea en una frase: cuando la IA puede hacer la tarea, la nota tiene que medir lo que el estudiante puede explicar.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0:10–0:35. El problema no es que los alumnos hagan trampa. Es que la IA mejora el producto sin mejorar el aprendizaje. En un ensayo con unos mil escolares, quienes practicaron con IA rindieron 17 % menos cuando se la quitaron. En otro, ChatGPT subió la nota del ensayo, pero no el conocimiento. Y el 54 % de nuestros alumnos ya la usa cada semana. La nota mide el producto; las tareas siguen diseñadas para un mundo sin 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0:35–0:55. ¿Cómo llegamos aquí? Analizamos las cuatro grietas del reto y elegimos la 02. Vimos que el problema es de uso, no de acceso: casi todos usan IA, pocos bien. Que el alumno delega justo lo difícil: crear y analizar. Y que los modos de estudio no bastan: se apagan con un clic. Conclusión: la solución tiene que vivir en la evaluación, no ser otro tutor.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0:55–1:10. La defensa oral funciona: explicar lo propio resiste a la IA. Pero son 15 a 20 minutos por alumno, y uno de cada cinco docentes de secundaria tiene 55 años o más. Necesitamos la defensa, pero para toda la clase.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1:10–1:25. Tres principios. Uno: la IA está permitida; no detectamos, preguntamos. Dos: defender enseña; explicar el propio trabajo tiene un efecto de medio desvío estándar. Tres: la IA sugiere y el docente decide, como pide el Reglamento peruano de IA para evaluar a menores.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1:25–2:00 (aquí va la demo en vivo si hay tiempo). Cuatro pasos. El docente sube la tarea que ya usa y la IA la rediseña. La prueba de estrés le muestra cuánta nota saca una IA sola. El alumno entrega, puede usar IA, y recibe preguntas sobre su propio trabajo: en el celular, en papel o en voz alta. Y el docente decide la nota con la evidencia de cada criterio, y ve qué errores se repiten en la clase.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2:00–2:15. ¿En qué somos distintos? Los detectores vigilan, no miden comprensión. Los modos de estudio son opcionales y al docente no le llega nada. Los exámenes orales con IA son por voz, uno a uno y en inglés. Nosotros rediseñamos la tarea, la probamos contra la IA y la defensa funciona incluso en papel.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2:15–2:35. Los asistentes docentes ya son gratis, así que no competimos como otro asistente. Somos gratis para el docente y la institución paga por evidencia de comprensión, del presupuesto que hoy va a detectores: Turnitin cobra entre 1,79 y 6,50 dólares por alumno al año. Una defensa nos cuesta menos de medio centavo. Empezamos con docentes, seguimos con colegios y facultades, y luego el sector público.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2:35–2:45. Hoy el MVP funciona de punta a punta y está desplegado. El siguiente paso es validarlo con docentes y estudiantes reales y medir la brecha entre lo que entregan y lo que explican. [Si tienen un hallazgo real con usuarios, reemplazar esta nota y la columna derecha por ese dato: es lo que más pesa en Problemática.]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2:45–3:00. Para los docentes que ya no saben quién aprendió y quién le pidió la tarea a una IA, Defiéndelo rediseña sus tareas para que la nota se gane explicando el propio trabajo. A diferencia de los detectores, no acusa: pregunta. Y a diferencia de un examen oral, llega a toda la clase.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de respaldo para las preguntas del jurado.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41B34"/>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502920"/>
            <a:ext cx="7315200" cy="365760"/>
          </a:xfrm>
          <a:prstGeom prst="rect">
            <a:avLst/>
          </a:prstGeom>
          <a:noFill/>
          <a:ln/>
        </p:spPr>
        <p:txBody>
          <a:bodyPr wrap="square" rtlCol="0"/>
          <a:lstStyle>
            <a:lvl1pPr indent="0" marL="0">
              <a:buNone/>
              <a:defRPr lang="en-US" sz="1400" b="1" spc="200" kern="0" dirty="0">
                <a:solidFill>
                  <a:schemeClr val="accent2"/>
                </a:solidFill>
              </a:defRPr>
            </a:lvl1pPr>
          </a:lstStyle>
          <a:p>
            <a:pPr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rtlCol="0"/>
          <a:lstStyle>
            <a:lvl1pPr indent="0" marL="0">
              <a:buNone/>
              <a:defRPr lang="en-US" sz="1300" b="1" spc="200" kern="0"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548640" y="685800"/>
            <a:ext cx="11094415" cy="77724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4" name="Text 0"/>
          <p:cNvSpPr/>
          <p:nvPr>
            <p:ph idx="102" type="body" hasCustomPrompt="1"/>
          </p:nvPr>
        </p:nvSpPr>
        <p:spPr>
          <a:xfrm>
            <a:off x="548640" y="6355080"/>
            <a:ext cx="10180015" cy="320040"/>
          </a:xfrm>
          <a:prstGeom prst="rect">
            <a:avLst/>
          </a:prstGeom>
          <a:noFill/>
          <a:ln/>
        </p:spPr>
        <p:txBody>
          <a:bodyPr wrap="square" rtlCol="0"/>
          <a:lstStyle>
            <a:lvl1pPr indent="0" marL="0">
              <a:buNone/>
              <a:defRPr lang="en-US" sz="1000" dirty="0">
                <a:solidFill>
                  <a:schemeClr val="accent4"/>
                </a:solidFill>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277295" y="6355080"/>
            <a:ext cx="4114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4F5568"/>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7295" y="6355080"/>
            <a:ext cx="4114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4F556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502920"/>
            <a:ext cx="7315200" cy="365760"/>
          </a:xfrm>
          <a:prstGeom prst="rect">
            <a:avLst/>
          </a:prstGeom>
          <a:noFill/>
          <a:ln/>
        </p:spPr>
        <p:txBody>
          <a:bodyPr wrap="square" rtlCol="0"/>
          <a:lstStyle/>
          <a:p>
            <a:pPr indent="0" marL="0">
              <a:buNone/>
            </a:pPr>
            <a:r>
              <a:rPr lang="en-US" sz="1400" b="1" spc="200" kern="0" dirty="0">
                <a:solidFill>
                  <a:schemeClr val="accent2"/>
                </a:solidFill>
              </a:rPr>
              <a:t>DSC HACK 2026 · EDUCACIÓN 2036</a:t>
            </a:r>
            <a:endParaRPr lang="en-US" sz="1400" dirty="0"/>
          </a:p>
        </p:txBody>
      </p:sp>
      <p:sp>
        <p:nvSpPr>
          <p:cNvPr id="3" name="Product name"/>
          <p:cNvSpPr txBox="1"/>
          <p:nvPr/>
        </p:nvSpPr>
        <p:spPr>
          <a:xfrm>
            <a:off x="548640" y="1828800"/>
            <a:ext cx="8229600" cy="1188720"/>
          </a:xfrm>
          <a:prstGeom prst="rect">
            <a:avLst/>
          </a:prstGeom>
          <a:noFill/>
          <a:ln/>
        </p:spPr>
        <p:txBody>
          <a:bodyPr wrap="square" lIns="0" tIns="0" rIns="0" bIns="0" rtlCol="0" anchor="ctr"/>
          <a:lstStyle/>
          <a:p>
            <a:pPr indent="0" marL="0">
              <a:buNone/>
            </a:pPr>
            <a:r>
              <a:rPr lang="en-US" sz="6600" b="1" dirty="0">
                <a:solidFill>
                  <a:srgbClr val="FFFFFF"/>
                </a:solidFill>
              </a:rPr>
              <a:t>Defiéndelo</a:t>
            </a:r>
            <a:endParaRPr lang="en-US" sz="6600" dirty="0"/>
          </a:p>
        </p:txBody>
      </p:sp>
      <p:sp>
        <p:nvSpPr>
          <p:cNvPr id="4" name="Tagline"/>
          <p:cNvSpPr txBox="1"/>
          <p:nvPr/>
        </p:nvSpPr>
        <p:spPr>
          <a:xfrm>
            <a:off x="548640" y="3063240"/>
            <a:ext cx="7863840" cy="1097280"/>
          </a:xfrm>
          <a:prstGeom prst="rect">
            <a:avLst/>
          </a:prstGeom>
          <a:noFill/>
          <a:ln/>
        </p:spPr>
        <p:txBody>
          <a:bodyPr wrap="square" lIns="0" tIns="0" rIns="0" bIns="0" rtlCol="0" anchor="ctr"/>
          <a:lstStyle/>
          <a:p>
            <a:pPr indent="0" marL="0">
              <a:buNone/>
            </a:pPr>
            <a:r>
              <a:rPr lang="en-US" sz="2400" dirty="0">
                <a:solidFill>
                  <a:srgbClr val="E7ECFB"/>
                </a:solidFill>
              </a:rPr>
              <a:t>Cuando la IA puede hacer la tarea, la nota tiene que medir lo que el estudiante puede explicar.</a:t>
            </a:r>
            <a:endParaRPr lang="en-US" sz="2400" dirty="0"/>
          </a:p>
        </p:txBody>
      </p:sp>
      <p:sp>
        <p:nvSpPr>
          <p:cNvPr id="5" name="Demo URL"/>
          <p:cNvSpPr txBox="1"/>
          <p:nvPr/>
        </p:nvSpPr>
        <p:spPr>
          <a:xfrm>
            <a:off x="548640" y="5394960"/>
            <a:ext cx="5486400" cy="457200"/>
          </a:xfrm>
          <a:prstGeom prst="rect">
            <a:avLst/>
          </a:prstGeom>
          <a:noFill/>
          <a:ln/>
        </p:spPr>
        <p:txBody>
          <a:bodyPr wrap="square" lIns="0" tIns="0" rIns="0" bIns="0" rtlCol="0" anchor="ctr"/>
          <a:lstStyle/>
          <a:p>
            <a:pPr indent="0" marL="0">
              <a:buNone/>
            </a:pPr>
            <a:r>
              <a:rPr lang="en-US" sz="1800" b="1" dirty="0">
                <a:solidFill>
                  <a:srgbClr val="E9B949"/>
                </a:solidFill>
              </a:rPr>
              <a:t>defiendelo.vercel.app</a:t>
            </a:r>
            <a:endParaRPr lang="en-US" sz="1800" dirty="0"/>
          </a:p>
        </p:txBody>
      </p:sp>
      <p:sp>
        <p:nvSpPr>
          <p:cNvPr id="6" name="Student defending their work circle"/>
          <p:cNvSpPr/>
          <p:nvPr/>
        </p:nvSpPr>
        <p:spPr>
          <a:xfrm>
            <a:off x="8778240" y="1828800"/>
            <a:ext cx="2651760" cy="2651760"/>
          </a:xfrm>
          <a:prstGeom prst="ellipse">
            <a:avLst/>
          </a:prstGeom>
          <a:solidFill>
            <a:srgbClr val="2340B8"/>
          </a:solidFill>
          <a:ln w="12700">
            <a:solidFill>
              <a:srgbClr val="2340B8"/>
            </a:solidFill>
            <a:prstDash val="solid"/>
          </a:ln>
        </p:spPr>
      </p:sp>
      <p:pic>
        <p:nvPicPr>
          <p:cNvPr id="7" name="Image 0" descr="Student defending their work">    </p:cNvPr>
          <p:cNvPicPr>
            <a:picLocks noChangeAspect="1"/>
          </p:cNvPicPr>
          <p:nvPr/>
        </p:nvPicPr>
        <p:blipFill>
          <a:blip r:embed="rId1"/>
          <a:stretch>
            <a:fillRect/>
          </a:stretch>
        </p:blipFill>
        <p:spPr>
          <a:xfrm>
            <a:off x="9414662" y="2465222"/>
            <a:ext cx="1378915" cy="137891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300" b="1" spc="200" kern="0" dirty="0">
                <a:solidFill>
                  <a:schemeClr val="accent1"/>
                </a:solidFill>
              </a:rPr>
              <a:t>POR QUÉ · EL PROBLEMA</a:t>
            </a:r>
            <a:endParaRPr lang="en-US" sz="1300" dirty="0"/>
          </a:p>
        </p:txBody>
      </p:sp>
      <p:sp>
        <p:nvSpPr>
          <p:cNvPr id="3" name="Text 0"/>
          <p:cNvSpPr/>
          <p:nvPr>
            <p:ph idx="101" type="title" hasCustomPrompt="1"/>
          </p:nvPr>
        </p:nvSpPr>
        <p:spPr>
          <a:xfrm>
            <a:off x="548640" y="685800"/>
            <a:ext cx="11094415" cy="777240"/>
          </a:xfrm>
          <a:prstGeom prst="rect">
            <a:avLst/>
          </a:prstGeom>
          <a:noFill/>
          <a:ln/>
        </p:spPr>
        <p:txBody>
          <a:bodyPr wrap="square" lIns="0" tIns="0" rIns="0" bIns="0" rtlCol="0" anchor="t"/>
          <a:lstStyle/>
          <a:p>
            <a:pPr algn="l" indent="0" marL="0">
              <a:buNone/>
            </a:pPr>
            <a:r>
              <a:rPr lang="en-US" sz="3400" b="1" dirty="0">
                <a:solidFill>
                  <a:schemeClr val="tx1"/>
                </a:solidFill>
              </a:rPr>
              <a:t>La IA mejora la tarea, pero no el aprendizaje</a:t>
            </a:r>
            <a:endParaRPr lang="en-US" sz="3400" dirty="0"/>
          </a:p>
        </p:txBody>
      </p:sp>
      <p:sp>
        <p:nvSpPr>
          <p:cNvPr id="4" name="Text 0"/>
          <p:cNvSpPr/>
          <p:nvPr>
            <p:ph idx="102" type="body" hasCustomPrompt="1"/>
          </p:nvPr>
        </p:nvSpPr>
        <p:spPr>
          <a:xfrm>
            <a:off x="548640" y="6355080"/>
            <a:ext cx="10180015" cy="320040"/>
          </a:xfrm>
          <a:prstGeom prst="rect">
            <a:avLst/>
          </a:prstGeom>
          <a:noFill/>
          <a:ln/>
        </p:spPr>
        <p:txBody>
          <a:bodyPr wrap="square" lIns="0" tIns="0" rIns="0" bIns="0" rtlCol="0"/>
          <a:lstStyle/>
          <a:p>
            <a:pPr indent="0" marL="0">
              <a:buNone/>
            </a:pPr>
            <a:r>
              <a:rPr lang="en-US" sz="1000" dirty="0">
                <a:solidFill>
                  <a:schemeClr val="accent4"/>
                </a:solidFill>
              </a:rPr>
              <a:t>Fuentes: Bastani et al., PNAS 2025 · Fan et al., 2024 (arXiv 2412.09315) · PISA 2025 vía La República</a:t>
            </a:r>
            <a:endParaRPr lang="en-US" sz="1000" dirty="0"/>
          </a:p>
        </p:txBody>
      </p:sp>
      <p:sp>
        <p:nvSpPr>
          <p:cNvPr id="5" name="Stat 1 card"/>
          <p:cNvSpPr/>
          <p:nvPr/>
        </p:nvSpPr>
        <p:spPr>
          <a:xfrm>
            <a:off x="548640" y="1783080"/>
            <a:ext cx="3474720" cy="3017520"/>
          </a:xfrm>
          <a:prstGeom prst="roundRect">
            <a:avLst>
              <a:gd name="adj" fmla="val 3636"/>
            </a:avLst>
          </a:prstGeom>
          <a:solidFill>
            <a:srgbClr val="F3F4F8"/>
          </a:solidFill>
          <a:ln w="12700">
            <a:solidFill>
              <a:srgbClr val="F3F4F8"/>
            </a:solidFill>
            <a:prstDash val="solid"/>
          </a:ln>
        </p:spPr>
      </p:sp>
      <p:sp>
        <p:nvSpPr>
          <p:cNvPr id="6" name="Stat 1 number"/>
          <p:cNvSpPr txBox="1"/>
          <p:nvPr/>
        </p:nvSpPr>
        <p:spPr>
          <a:xfrm>
            <a:off x="822960" y="1965960"/>
            <a:ext cx="2926080" cy="1097280"/>
          </a:xfrm>
          <a:prstGeom prst="rect">
            <a:avLst/>
          </a:prstGeom>
          <a:noFill/>
          <a:ln/>
        </p:spPr>
        <p:txBody>
          <a:bodyPr wrap="square" lIns="0" tIns="0" rIns="0" bIns="0" rtlCol="0" anchor="ctr"/>
          <a:lstStyle/>
          <a:p>
            <a:pPr indent="0" marL="0">
              <a:buNone/>
            </a:pPr>
            <a:r>
              <a:rPr lang="en-US" sz="6000" b="1" dirty="0">
                <a:solidFill>
                  <a:srgbClr val="B8461F"/>
                </a:solidFill>
              </a:rPr>
              <a:t>−17 %</a:t>
            </a:r>
            <a:endParaRPr lang="en-US" sz="6000" dirty="0"/>
          </a:p>
        </p:txBody>
      </p:sp>
      <p:sp>
        <p:nvSpPr>
          <p:cNvPr id="7" name="Stat 1 label"/>
          <p:cNvSpPr txBox="1"/>
          <p:nvPr/>
        </p:nvSpPr>
        <p:spPr>
          <a:xfrm>
            <a:off x="822960" y="3154680"/>
            <a:ext cx="2926080" cy="1463040"/>
          </a:xfrm>
          <a:prstGeom prst="rect">
            <a:avLst/>
          </a:prstGeom>
          <a:noFill/>
          <a:ln/>
        </p:spPr>
        <p:txBody>
          <a:bodyPr wrap="square" lIns="0" tIns="0" rIns="0" bIns="0" rtlCol="0" anchor="t"/>
          <a:lstStyle/>
          <a:p>
            <a:pPr indent="0" marL="0">
              <a:buNone/>
            </a:pPr>
            <a:r>
              <a:rPr lang="en-US" sz="1600" dirty="0">
                <a:solidFill>
                  <a:srgbClr val="141B34"/>
                </a:solidFill>
              </a:rPr>
              <a:t>rindieron menos al quitarles la IA quienes practicaron con ella (≈1.000 escolares)</a:t>
            </a:r>
            <a:endParaRPr lang="en-US" sz="1600" dirty="0"/>
          </a:p>
        </p:txBody>
      </p:sp>
      <p:sp>
        <p:nvSpPr>
          <p:cNvPr id="8" name="Stat 2 card"/>
          <p:cNvSpPr/>
          <p:nvPr/>
        </p:nvSpPr>
        <p:spPr>
          <a:xfrm>
            <a:off x="4297680" y="1783080"/>
            <a:ext cx="3474720" cy="3017520"/>
          </a:xfrm>
          <a:prstGeom prst="roundRect">
            <a:avLst>
              <a:gd name="adj" fmla="val 3636"/>
            </a:avLst>
          </a:prstGeom>
          <a:solidFill>
            <a:srgbClr val="F3F4F8"/>
          </a:solidFill>
          <a:ln w="12700">
            <a:solidFill>
              <a:srgbClr val="F3F4F8"/>
            </a:solidFill>
            <a:prstDash val="solid"/>
          </a:ln>
        </p:spPr>
      </p:sp>
      <p:sp>
        <p:nvSpPr>
          <p:cNvPr id="9" name="Stat 2 number"/>
          <p:cNvSpPr txBox="1"/>
          <p:nvPr/>
        </p:nvSpPr>
        <p:spPr>
          <a:xfrm>
            <a:off x="4572000" y="1965960"/>
            <a:ext cx="2926080" cy="1097280"/>
          </a:xfrm>
          <a:prstGeom prst="rect">
            <a:avLst/>
          </a:prstGeom>
          <a:noFill/>
          <a:ln/>
        </p:spPr>
        <p:txBody>
          <a:bodyPr wrap="square" lIns="0" tIns="0" rIns="0" bIns="0" rtlCol="0" anchor="ctr"/>
          <a:lstStyle/>
          <a:p>
            <a:pPr indent="0" marL="0">
              <a:buNone/>
            </a:pPr>
            <a:r>
              <a:rPr lang="en-US" sz="6000" b="1" dirty="0">
                <a:solidFill>
                  <a:srgbClr val="2340B8"/>
                </a:solidFill>
              </a:rPr>
              <a:t>= 0</a:t>
            </a:r>
            <a:endParaRPr lang="en-US" sz="6000" dirty="0"/>
          </a:p>
        </p:txBody>
      </p:sp>
      <p:sp>
        <p:nvSpPr>
          <p:cNvPr id="10" name="Stat 2 label"/>
          <p:cNvSpPr txBox="1"/>
          <p:nvPr/>
        </p:nvSpPr>
        <p:spPr>
          <a:xfrm>
            <a:off x="4572000" y="3154680"/>
            <a:ext cx="2926080" cy="1463040"/>
          </a:xfrm>
          <a:prstGeom prst="rect">
            <a:avLst/>
          </a:prstGeom>
          <a:noFill/>
          <a:ln/>
        </p:spPr>
        <p:txBody>
          <a:bodyPr wrap="square" lIns="0" tIns="0" rIns="0" bIns="0" rtlCol="0" anchor="t"/>
          <a:lstStyle/>
          <a:p>
            <a:pPr indent="0" marL="0">
              <a:buNone/>
            </a:pPr>
            <a:r>
              <a:rPr lang="en-US" sz="1600" dirty="0">
                <a:solidFill>
                  <a:srgbClr val="141B34"/>
                </a:solidFill>
              </a:rPr>
              <a:t>diferencia en conocimiento: con ChatGPT la nota del ensayo subió más, el aprendizaje no</a:t>
            </a:r>
            <a:endParaRPr lang="en-US" sz="1600" dirty="0"/>
          </a:p>
        </p:txBody>
      </p:sp>
      <p:sp>
        <p:nvSpPr>
          <p:cNvPr id="11" name="Stat 3 card"/>
          <p:cNvSpPr/>
          <p:nvPr/>
        </p:nvSpPr>
        <p:spPr>
          <a:xfrm>
            <a:off x="8046720" y="1783080"/>
            <a:ext cx="3474720" cy="3017520"/>
          </a:xfrm>
          <a:prstGeom prst="roundRect">
            <a:avLst>
              <a:gd name="adj" fmla="val 3636"/>
            </a:avLst>
          </a:prstGeom>
          <a:solidFill>
            <a:srgbClr val="F3F4F8"/>
          </a:solidFill>
          <a:ln w="12700">
            <a:solidFill>
              <a:srgbClr val="F3F4F8"/>
            </a:solidFill>
            <a:prstDash val="solid"/>
          </a:ln>
        </p:spPr>
      </p:sp>
      <p:sp>
        <p:nvSpPr>
          <p:cNvPr id="12" name="Stat 3 number"/>
          <p:cNvSpPr txBox="1"/>
          <p:nvPr/>
        </p:nvSpPr>
        <p:spPr>
          <a:xfrm>
            <a:off x="8321040" y="1965960"/>
            <a:ext cx="2926080" cy="1097280"/>
          </a:xfrm>
          <a:prstGeom prst="rect">
            <a:avLst/>
          </a:prstGeom>
          <a:noFill/>
          <a:ln/>
        </p:spPr>
        <p:txBody>
          <a:bodyPr wrap="square" lIns="0" tIns="0" rIns="0" bIns="0" rtlCol="0" anchor="ctr"/>
          <a:lstStyle/>
          <a:p>
            <a:pPr indent="0" marL="0">
              <a:buNone/>
            </a:pPr>
            <a:r>
              <a:rPr lang="en-US" sz="6000" b="1" dirty="0">
                <a:solidFill>
                  <a:srgbClr val="141B34"/>
                </a:solidFill>
              </a:rPr>
              <a:t>54 %</a:t>
            </a:r>
            <a:endParaRPr lang="en-US" sz="6000" dirty="0"/>
          </a:p>
        </p:txBody>
      </p:sp>
      <p:sp>
        <p:nvSpPr>
          <p:cNvPr id="13" name="Stat 3 label"/>
          <p:cNvSpPr txBox="1"/>
          <p:nvPr/>
        </p:nvSpPr>
        <p:spPr>
          <a:xfrm>
            <a:off x="8321040" y="3154680"/>
            <a:ext cx="2926080" cy="1463040"/>
          </a:xfrm>
          <a:prstGeom prst="rect">
            <a:avLst/>
          </a:prstGeom>
          <a:noFill/>
          <a:ln/>
        </p:spPr>
        <p:txBody>
          <a:bodyPr wrap="square" lIns="0" tIns="0" rIns="0" bIns="0" rtlCol="0" anchor="t"/>
          <a:lstStyle/>
          <a:p>
            <a:pPr indent="0" marL="0">
              <a:buNone/>
            </a:pPr>
            <a:r>
              <a:rPr lang="en-US" sz="1600" dirty="0">
                <a:solidFill>
                  <a:srgbClr val="141B34"/>
                </a:solidFill>
              </a:rPr>
              <a:t>de alumnos peruanos de 15 años usa chatbots de IA cada semana para estudiar</a:t>
            </a:r>
            <a:endParaRPr lang="en-US" sz="1600" dirty="0"/>
          </a:p>
        </p:txBody>
      </p:sp>
      <p:sp>
        <p:nvSpPr>
          <p:cNvPr id="14" name="Problem takeaway"/>
          <p:cNvSpPr txBox="1"/>
          <p:nvPr/>
        </p:nvSpPr>
        <p:spPr>
          <a:xfrm>
            <a:off x="548640" y="5120640"/>
            <a:ext cx="11094415" cy="640080"/>
          </a:xfrm>
          <a:prstGeom prst="rect">
            <a:avLst/>
          </a:prstGeom>
          <a:noFill/>
          <a:ln/>
        </p:spPr>
        <p:txBody>
          <a:bodyPr wrap="square" lIns="0" tIns="0" rIns="0" bIns="0" rtlCol="0" anchor="ctr"/>
          <a:lstStyle/>
          <a:p>
            <a:pPr indent="0" marL="0">
              <a:buNone/>
            </a:pPr>
            <a:r>
              <a:rPr lang="en-US" sz="2000" b="1" dirty="0">
                <a:solidFill>
                  <a:srgbClr val="141B34"/>
                </a:solidFill>
              </a:rPr>
              <a:t>La nota de hoy mide el producto. </a:t>
            </a:r>
            <a:pPr indent="0" marL="0">
              <a:buNone/>
            </a:pPr>
            <a:r>
              <a:rPr lang="en-US" sz="2000" dirty="0">
                <a:solidFill>
                  <a:srgbClr val="141B34"/>
                </a:solidFill>
              </a:rPr>
              <a:t>Y las tareas siguen diseñadas para un mundo sin IA.</a:t>
            </a:r>
            <a:endParaRPr lang="en-US" sz="2000" dirty="0"/>
          </a:p>
        </p:txBody>
      </p:sp>
      <p:sp>
        <p:nvSpPr>
          <p:cNvPr id="25" name="Slide Number Placeholder 0"/>
          <p:cNvSpPr>
            <a:spLocks noGrp="1"/>
          </p:cNvSpPr>
          <p:nvPr>
            <p:ph type="sldNum" sz="quarter" idx="4294967295"/>
          </p:nvPr>
        </p:nvSpPr>
        <p:spPr>
          <a:xfrm>
            <a:off x="11277295" y="6355080"/>
            <a:ext cx="4114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4F556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300" b="1" spc="200" kern="0" dirty="0">
                <a:solidFill>
                  <a:schemeClr val="accent1"/>
                </a:solidFill>
              </a:rPr>
              <a:t>POR QUÉ · CÓMO LLEGAMOS AQUÍ</a:t>
            </a:r>
            <a:endParaRPr lang="en-US" sz="1300" dirty="0"/>
          </a:p>
        </p:txBody>
      </p:sp>
      <p:sp>
        <p:nvSpPr>
          <p:cNvPr id="3" name="Text 0"/>
          <p:cNvSpPr/>
          <p:nvPr>
            <p:ph idx="101" type="title" hasCustomPrompt="1"/>
          </p:nvPr>
        </p:nvSpPr>
        <p:spPr>
          <a:xfrm>
            <a:off x="548640" y="685800"/>
            <a:ext cx="11094415" cy="777240"/>
          </a:xfrm>
          <a:prstGeom prst="rect">
            <a:avLst/>
          </a:prstGeom>
          <a:noFill/>
          <a:ln/>
        </p:spPr>
        <p:txBody>
          <a:bodyPr wrap="square" lIns="0" tIns="0" rIns="0" bIns="0" rtlCol="0" anchor="t"/>
          <a:lstStyle/>
          <a:p>
            <a:pPr algn="l" indent="0" marL="0">
              <a:buNone/>
            </a:pPr>
            <a:r>
              <a:rPr lang="en-US" sz="3400" b="1" dirty="0">
                <a:solidFill>
                  <a:schemeClr val="tx1"/>
                </a:solidFill>
              </a:rPr>
              <a:t>De cuatro grietas a una conclusión</a:t>
            </a:r>
            <a:endParaRPr lang="en-US" sz="3400" dirty="0"/>
          </a:p>
        </p:txBody>
      </p:sp>
      <p:sp>
        <p:nvSpPr>
          <p:cNvPr id="4" name="Text 0"/>
          <p:cNvSpPr/>
          <p:nvPr>
            <p:ph idx="102" type="body" hasCustomPrompt="1"/>
          </p:nvPr>
        </p:nvSpPr>
        <p:spPr>
          <a:xfrm>
            <a:off x="548640" y="6355080"/>
            <a:ext cx="10180015" cy="320040"/>
          </a:xfrm>
          <a:prstGeom prst="rect">
            <a:avLst/>
          </a:prstGeom>
          <a:noFill/>
          <a:ln/>
        </p:spPr>
        <p:txBody>
          <a:bodyPr wrap="square" lIns="0" tIns="0" rIns="0" bIns="0" rtlCol="0"/>
          <a:lstStyle/>
          <a:p>
            <a:pPr indent="0" marL="0">
              <a:buNone/>
            </a:pPr>
            <a:r>
              <a:rPr lang="en-US" sz="1000" dirty="0">
                <a:solidFill>
                  <a:schemeClr val="accent4"/>
                </a:solidFill>
              </a:rPr>
              <a:t>Fuentes: uDocz vía El Peruano · Anthropic Education Report 2025 · Bastani et al. 2025 · InfoQ 2025. Detalle en docs/investigacion/</a:t>
            </a:r>
            <a:endParaRPr lang="en-US" sz="1000" dirty="0"/>
          </a:p>
        </p:txBody>
      </p:sp>
      <p:sp>
        <p:nvSpPr>
          <p:cNvPr id="5" name="Analizamos las 4 grietas del reto circle"/>
          <p:cNvSpPr/>
          <p:nvPr/>
        </p:nvSpPr>
        <p:spPr>
          <a:xfrm>
            <a:off x="548640" y="1783080"/>
            <a:ext cx="822960" cy="822960"/>
          </a:xfrm>
          <a:prstGeom prst="ellipse">
            <a:avLst/>
          </a:prstGeom>
          <a:solidFill>
            <a:srgbClr val="E7ECFB"/>
          </a:solidFill>
          <a:ln w="12700">
            <a:solidFill>
              <a:srgbClr val="E7ECFB"/>
            </a:solidFill>
            <a:prstDash val="solid"/>
          </a:ln>
        </p:spPr>
      </p:sp>
      <p:pic>
        <p:nvPicPr>
          <p:cNvPr id="6" name="Image 0" descr="Analizamos las 4 grietas del reto">    </p:cNvPr>
          <p:cNvPicPr>
            <a:picLocks noChangeAspect="1"/>
          </p:cNvPicPr>
          <p:nvPr/>
        </p:nvPicPr>
        <p:blipFill>
          <a:blip r:embed="rId1"/>
          <a:stretch>
            <a:fillRect/>
          </a:stretch>
        </p:blipFill>
        <p:spPr>
          <a:xfrm>
            <a:off x="746150" y="1980590"/>
            <a:ext cx="427939" cy="427939"/>
          </a:xfrm>
          <a:prstGeom prst="rect">
            <a:avLst/>
          </a:prstGeom>
        </p:spPr>
      </p:pic>
      <p:sp>
        <p:nvSpPr>
          <p:cNvPr id="7" name="Step 1 title"/>
          <p:cNvSpPr txBox="1"/>
          <p:nvPr/>
        </p:nvSpPr>
        <p:spPr>
          <a:xfrm>
            <a:off x="548640" y="2743200"/>
            <a:ext cx="2560320" cy="868680"/>
          </a:xfrm>
          <a:prstGeom prst="rect">
            <a:avLst/>
          </a:prstGeom>
          <a:noFill/>
          <a:ln/>
        </p:spPr>
        <p:txBody>
          <a:bodyPr wrap="square" lIns="0" tIns="0" rIns="0" bIns="0" rtlCol="0" anchor="t"/>
          <a:lstStyle/>
          <a:p>
            <a:pPr indent="0" marL="0">
              <a:buNone/>
            </a:pPr>
            <a:r>
              <a:rPr lang="en-US" sz="1700" b="1" dirty="0">
                <a:solidFill>
                  <a:srgbClr val="141B34"/>
                </a:solidFill>
              </a:rPr>
              <a:t>1. Analizamos las 4 grietas del reto</a:t>
            </a:r>
            <a:endParaRPr lang="en-US" sz="1700" dirty="0"/>
          </a:p>
        </p:txBody>
      </p:sp>
      <p:sp>
        <p:nvSpPr>
          <p:cNvPr id="8" name="Step 1 detail"/>
          <p:cNvSpPr txBox="1"/>
          <p:nvPr/>
        </p:nvSpPr>
        <p:spPr>
          <a:xfrm>
            <a:off x="548640" y="3611880"/>
            <a:ext cx="2560320" cy="1097280"/>
          </a:xfrm>
          <a:prstGeom prst="rect">
            <a:avLst/>
          </a:prstGeom>
          <a:noFill/>
          <a:ln/>
        </p:spPr>
        <p:txBody>
          <a:bodyPr wrap="square" lIns="0" tIns="0" rIns="0" bIns="0" rtlCol="0" anchor="t"/>
          <a:lstStyle/>
          <a:p>
            <a:pPr indent="0" marL="0">
              <a:buNone/>
            </a:pPr>
            <a:r>
              <a:rPr lang="en-US" sz="1400" dirty="0">
                <a:solidFill>
                  <a:srgbClr val="4F5568"/>
                </a:solidFill>
              </a:rPr>
              <a:t>Elegimos la 02: es la de prueba más limpia, con trabajos reales en el evento</a:t>
            </a:r>
            <a:endParaRPr lang="en-US" sz="1400" dirty="0"/>
          </a:p>
        </p:txBody>
      </p:sp>
      <p:sp>
        <p:nvSpPr>
          <p:cNvPr id="9" name="Arrow 1"/>
          <p:cNvSpPr/>
          <p:nvPr/>
        </p:nvSpPr>
        <p:spPr>
          <a:xfrm>
            <a:off x="1600200" y="2011680"/>
            <a:ext cx="1463040" cy="365760"/>
          </a:xfrm>
          <a:prstGeom prst="rightArrow">
            <a:avLst/>
          </a:prstGeom>
          <a:solidFill>
            <a:srgbClr val="D9DCE5"/>
          </a:solidFill>
          <a:ln w="12700">
            <a:solidFill>
              <a:srgbClr val="D9DCE5"/>
            </a:solidFill>
            <a:prstDash val="solid"/>
          </a:ln>
        </p:spPr>
      </p:sp>
      <p:sp>
        <p:nvSpPr>
          <p:cNvPr id="10" name="El problema es de uso, no de acceso circle"/>
          <p:cNvSpPr/>
          <p:nvPr/>
        </p:nvSpPr>
        <p:spPr>
          <a:xfrm>
            <a:off x="3355848" y="1783080"/>
            <a:ext cx="822960" cy="822960"/>
          </a:xfrm>
          <a:prstGeom prst="ellipse">
            <a:avLst/>
          </a:prstGeom>
          <a:solidFill>
            <a:srgbClr val="E7ECFB"/>
          </a:solidFill>
          <a:ln w="12700">
            <a:solidFill>
              <a:srgbClr val="E7ECFB"/>
            </a:solidFill>
            <a:prstDash val="solid"/>
          </a:ln>
        </p:spPr>
      </p:sp>
      <p:pic>
        <p:nvPicPr>
          <p:cNvPr id="11" name="Image 1" descr="El problema es de uso, no de acceso">    </p:cNvPr>
          <p:cNvPicPr>
            <a:picLocks noChangeAspect="1"/>
          </p:cNvPicPr>
          <p:nvPr/>
        </p:nvPicPr>
        <p:blipFill>
          <a:blip r:embed="rId2"/>
          <a:stretch>
            <a:fillRect/>
          </a:stretch>
        </p:blipFill>
        <p:spPr>
          <a:xfrm>
            <a:off x="3553358" y="1980590"/>
            <a:ext cx="427939" cy="427939"/>
          </a:xfrm>
          <a:prstGeom prst="rect">
            <a:avLst/>
          </a:prstGeom>
        </p:spPr>
      </p:pic>
      <p:sp>
        <p:nvSpPr>
          <p:cNvPr id="12" name="Step 2 title"/>
          <p:cNvSpPr txBox="1"/>
          <p:nvPr/>
        </p:nvSpPr>
        <p:spPr>
          <a:xfrm>
            <a:off x="3355848" y="2743200"/>
            <a:ext cx="2560320" cy="868680"/>
          </a:xfrm>
          <a:prstGeom prst="rect">
            <a:avLst/>
          </a:prstGeom>
          <a:noFill/>
          <a:ln/>
        </p:spPr>
        <p:txBody>
          <a:bodyPr wrap="square" lIns="0" tIns="0" rIns="0" bIns="0" rtlCol="0" anchor="t"/>
          <a:lstStyle/>
          <a:p>
            <a:pPr indent="0" marL="0">
              <a:buNone/>
            </a:pPr>
            <a:r>
              <a:rPr lang="en-US" sz="1700" b="1" dirty="0">
                <a:solidFill>
                  <a:srgbClr val="141B34"/>
                </a:solidFill>
              </a:rPr>
              <a:t>2. El problema es de uso, no de acceso</a:t>
            </a:r>
            <a:endParaRPr lang="en-US" sz="1700" dirty="0"/>
          </a:p>
        </p:txBody>
      </p:sp>
      <p:sp>
        <p:nvSpPr>
          <p:cNvPr id="13" name="Step 2 detail"/>
          <p:cNvSpPr txBox="1"/>
          <p:nvPr/>
        </p:nvSpPr>
        <p:spPr>
          <a:xfrm>
            <a:off x="3355848" y="3611880"/>
            <a:ext cx="2560320" cy="1097280"/>
          </a:xfrm>
          <a:prstGeom prst="rect">
            <a:avLst/>
          </a:prstGeom>
          <a:noFill/>
          <a:ln/>
        </p:spPr>
        <p:txBody>
          <a:bodyPr wrap="square" lIns="0" tIns="0" rIns="0" bIns="0" rtlCol="0" anchor="t"/>
          <a:lstStyle/>
          <a:p>
            <a:pPr indent="0" marL="0">
              <a:buNone/>
            </a:pPr>
            <a:r>
              <a:rPr lang="en-US" sz="1400" dirty="0">
                <a:solidFill>
                  <a:srgbClr val="4F5568"/>
                </a:solidFill>
              </a:rPr>
              <a:t>95 % de universitarios usa IA; solo 41 % de forma efectiva (uDocz)</a:t>
            </a:r>
            <a:endParaRPr lang="en-US" sz="1400" dirty="0"/>
          </a:p>
        </p:txBody>
      </p:sp>
      <p:sp>
        <p:nvSpPr>
          <p:cNvPr id="14" name="Arrow 2"/>
          <p:cNvSpPr/>
          <p:nvPr/>
        </p:nvSpPr>
        <p:spPr>
          <a:xfrm>
            <a:off x="4407408" y="2011680"/>
            <a:ext cx="1463040" cy="365760"/>
          </a:xfrm>
          <a:prstGeom prst="rightArrow">
            <a:avLst/>
          </a:prstGeom>
          <a:solidFill>
            <a:srgbClr val="D9DCE5"/>
          </a:solidFill>
          <a:ln w="12700">
            <a:solidFill>
              <a:srgbClr val="D9DCE5"/>
            </a:solidFill>
            <a:prstDash val="solid"/>
          </a:ln>
        </p:spPr>
      </p:sp>
      <p:sp>
        <p:nvSpPr>
          <p:cNvPr id="15" name="Se delega lo difícil circle"/>
          <p:cNvSpPr/>
          <p:nvPr/>
        </p:nvSpPr>
        <p:spPr>
          <a:xfrm>
            <a:off x="6163056" y="1783080"/>
            <a:ext cx="822960" cy="822960"/>
          </a:xfrm>
          <a:prstGeom prst="ellipse">
            <a:avLst/>
          </a:prstGeom>
          <a:solidFill>
            <a:srgbClr val="E7ECFB"/>
          </a:solidFill>
          <a:ln w="12700">
            <a:solidFill>
              <a:srgbClr val="E7ECFB"/>
            </a:solidFill>
            <a:prstDash val="solid"/>
          </a:ln>
        </p:spPr>
      </p:sp>
      <p:pic>
        <p:nvPicPr>
          <p:cNvPr id="16" name="Image 2" descr="Se delega lo difícil">    </p:cNvPr>
          <p:cNvPicPr>
            <a:picLocks noChangeAspect="1"/>
          </p:cNvPicPr>
          <p:nvPr/>
        </p:nvPicPr>
        <p:blipFill>
          <a:blip r:embed="rId3"/>
          <a:stretch>
            <a:fillRect/>
          </a:stretch>
        </p:blipFill>
        <p:spPr>
          <a:xfrm>
            <a:off x="6360566" y="1980590"/>
            <a:ext cx="427939" cy="427939"/>
          </a:xfrm>
          <a:prstGeom prst="rect">
            <a:avLst/>
          </a:prstGeom>
        </p:spPr>
      </p:pic>
      <p:sp>
        <p:nvSpPr>
          <p:cNvPr id="17" name="Step 3 title"/>
          <p:cNvSpPr txBox="1"/>
          <p:nvPr/>
        </p:nvSpPr>
        <p:spPr>
          <a:xfrm>
            <a:off x="6163056" y="2743200"/>
            <a:ext cx="2560320" cy="868680"/>
          </a:xfrm>
          <a:prstGeom prst="rect">
            <a:avLst/>
          </a:prstGeom>
          <a:noFill/>
          <a:ln/>
        </p:spPr>
        <p:txBody>
          <a:bodyPr wrap="square" lIns="0" tIns="0" rIns="0" bIns="0" rtlCol="0" anchor="t"/>
          <a:lstStyle/>
          <a:p>
            <a:pPr indent="0" marL="0">
              <a:buNone/>
            </a:pPr>
            <a:r>
              <a:rPr lang="en-US" sz="1700" b="1" dirty="0">
                <a:solidFill>
                  <a:srgbClr val="141B34"/>
                </a:solidFill>
              </a:rPr>
              <a:t>3. Se delega lo difícil</a:t>
            </a:r>
            <a:endParaRPr lang="en-US" sz="1700" dirty="0"/>
          </a:p>
        </p:txBody>
      </p:sp>
      <p:sp>
        <p:nvSpPr>
          <p:cNvPr id="18" name="Step 3 detail"/>
          <p:cNvSpPr txBox="1"/>
          <p:nvPr/>
        </p:nvSpPr>
        <p:spPr>
          <a:xfrm>
            <a:off x="6163056" y="3611880"/>
            <a:ext cx="2560320" cy="1097280"/>
          </a:xfrm>
          <a:prstGeom prst="rect">
            <a:avLst/>
          </a:prstGeom>
          <a:noFill/>
          <a:ln/>
        </p:spPr>
        <p:txBody>
          <a:bodyPr wrap="square" lIns="0" tIns="0" rIns="0" bIns="0" rtlCol="0" anchor="t"/>
          <a:lstStyle/>
          <a:p>
            <a:pPr indent="0" marL="0">
              <a:buNone/>
            </a:pPr>
            <a:r>
              <a:rPr lang="en-US" sz="1400" dirty="0">
                <a:solidFill>
                  <a:srgbClr val="4F5568"/>
                </a:solidFill>
              </a:rPr>
              <a:t>≈47 % de las conversaciones piden la respuesta directa; la IA crea y analiza</a:t>
            </a:r>
            <a:endParaRPr lang="en-US" sz="1400" dirty="0"/>
          </a:p>
        </p:txBody>
      </p:sp>
      <p:sp>
        <p:nvSpPr>
          <p:cNvPr id="19" name="Arrow 3"/>
          <p:cNvSpPr/>
          <p:nvPr/>
        </p:nvSpPr>
        <p:spPr>
          <a:xfrm>
            <a:off x="7214616" y="2011680"/>
            <a:ext cx="1463040" cy="365760"/>
          </a:xfrm>
          <a:prstGeom prst="rightArrow">
            <a:avLst/>
          </a:prstGeom>
          <a:solidFill>
            <a:srgbClr val="D9DCE5"/>
          </a:solidFill>
          <a:ln w="12700">
            <a:solidFill>
              <a:srgbClr val="D9DCE5"/>
            </a:solidFill>
            <a:prstDash val="solid"/>
          </a:ln>
        </p:spPr>
      </p:sp>
      <p:sp>
        <p:nvSpPr>
          <p:cNvPr id="20" name="Los tutores no bastan circle"/>
          <p:cNvSpPr/>
          <p:nvPr/>
        </p:nvSpPr>
        <p:spPr>
          <a:xfrm>
            <a:off x="8970264" y="1783080"/>
            <a:ext cx="822960" cy="822960"/>
          </a:xfrm>
          <a:prstGeom prst="ellipse">
            <a:avLst/>
          </a:prstGeom>
          <a:solidFill>
            <a:srgbClr val="E7ECFB"/>
          </a:solidFill>
          <a:ln w="12700">
            <a:solidFill>
              <a:srgbClr val="E7ECFB"/>
            </a:solidFill>
            <a:prstDash val="solid"/>
          </a:ln>
        </p:spPr>
      </p:sp>
      <p:pic>
        <p:nvPicPr>
          <p:cNvPr id="21" name="Image 3" descr="Los tutores no bastan">    </p:cNvPr>
          <p:cNvPicPr>
            <a:picLocks noChangeAspect="1"/>
          </p:cNvPicPr>
          <p:nvPr/>
        </p:nvPicPr>
        <p:blipFill>
          <a:blip r:embed="rId4"/>
          <a:stretch>
            <a:fillRect/>
          </a:stretch>
        </p:blipFill>
        <p:spPr>
          <a:xfrm>
            <a:off x="9167774" y="1980590"/>
            <a:ext cx="427939" cy="427939"/>
          </a:xfrm>
          <a:prstGeom prst="rect">
            <a:avLst/>
          </a:prstGeom>
        </p:spPr>
      </p:pic>
      <p:sp>
        <p:nvSpPr>
          <p:cNvPr id="22" name="Step 4 title"/>
          <p:cNvSpPr txBox="1"/>
          <p:nvPr/>
        </p:nvSpPr>
        <p:spPr>
          <a:xfrm>
            <a:off x="8970264" y="2743200"/>
            <a:ext cx="2560320" cy="868680"/>
          </a:xfrm>
          <a:prstGeom prst="rect">
            <a:avLst/>
          </a:prstGeom>
          <a:noFill/>
          <a:ln/>
        </p:spPr>
        <p:txBody>
          <a:bodyPr wrap="square" lIns="0" tIns="0" rIns="0" bIns="0" rtlCol="0" anchor="t"/>
          <a:lstStyle/>
          <a:p>
            <a:pPr indent="0" marL="0">
              <a:buNone/>
            </a:pPr>
            <a:r>
              <a:rPr lang="en-US" sz="1700" b="1" dirty="0">
                <a:solidFill>
                  <a:srgbClr val="141B34"/>
                </a:solidFill>
              </a:rPr>
              <a:t>4. Los tutores no bastan</a:t>
            </a:r>
            <a:endParaRPr lang="en-US" sz="1700" dirty="0"/>
          </a:p>
        </p:txBody>
      </p:sp>
      <p:sp>
        <p:nvSpPr>
          <p:cNvPr id="23" name="Step 4 detail"/>
          <p:cNvSpPr txBox="1"/>
          <p:nvPr/>
        </p:nvSpPr>
        <p:spPr>
          <a:xfrm>
            <a:off x="8970264" y="3611880"/>
            <a:ext cx="2560320" cy="1097280"/>
          </a:xfrm>
          <a:prstGeom prst="rect">
            <a:avLst/>
          </a:prstGeom>
          <a:noFill/>
          <a:ln/>
        </p:spPr>
        <p:txBody>
          <a:bodyPr wrap="square" lIns="0" tIns="0" rIns="0" bIns="0" rtlCol="0" anchor="t"/>
          <a:lstStyle/>
          <a:p>
            <a:pPr indent="0" marL="0">
              <a:buNone/>
            </a:pPr>
            <a:r>
              <a:rPr lang="en-US" sz="1400" dirty="0">
                <a:solidFill>
                  <a:srgbClr val="4F5568"/>
                </a:solidFill>
              </a:rPr>
              <a:t>El modo estudio se apaga con un clic y al docente no le llega nada</a:t>
            </a:r>
            <a:endParaRPr lang="en-US" sz="1400" dirty="0"/>
          </a:p>
        </p:txBody>
      </p:sp>
      <p:sp>
        <p:nvSpPr>
          <p:cNvPr id="24" name="Conclusion card"/>
          <p:cNvSpPr/>
          <p:nvPr/>
        </p:nvSpPr>
        <p:spPr>
          <a:xfrm>
            <a:off x="548640" y="4937760"/>
            <a:ext cx="11094415" cy="1005840"/>
          </a:xfrm>
          <a:prstGeom prst="roundRect">
            <a:avLst>
              <a:gd name="adj" fmla="val 10909"/>
            </a:avLst>
          </a:prstGeom>
          <a:solidFill>
            <a:srgbClr val="FBF0D4"/>
          </a:solidFill>
          <a:ln w="12700">
            <a:solidFill>
              <a:srgbClr val="FBF0D4"/>
            </a:solidFill>
            <a:prstDash val="solid"/>
          </a:ln>
        </p:spPr>
      </p:sp>
      <p:sp>
        <p:nvSpPr>
          <p:cNvPr id="25" name="Research conclusion"/>
          <p:cNvSpPr txBox="1"/>
          <p:nvPr/>
        </p:nvSpPr>
        <p:spPr>
          <a:xfrm>
            <a:off x="822960" y="5029200"/>
            <a:ext cx="10545775" cy="822960"/>
          </a:xfrm>
          <a:prstGeom prst="rect">
            <a:avLst/>
          </a:prstGeom>
          <a:noFill/>
          <a:ln/>
        </p:spPr>
        <p:txBody>
          <a:bodyPr wrap="square" lIns="0" tIns="0" rIns="0" bIns="0" rtlCol="0" anchor="ctr"/>
          <a:lstStyle/>
          <a:p>
            <a:pPr indent="0" marL="0">
              <a:buNone/>
            </a:pPr>
            <a:r>
              <a:rPr lang="en-US" sz="1900" b="1" dirty="0">
                <a:solidFill>
                  <a:srgbClr val="141B34"/>
                </a:solidFill>
              </a:rPr>
              <a:t>Conclusión: </a:t>
            </a:r>
            <a:pPr indent="0" marL="0">
              <a:buNone/>
            </a:pPr>
            <a:r>
              <a:rPr lang="en-US" sz="1900" dirty="0">
                <a:solidFill>
                  <a:srgbClr val="141B34"/>
                </a:solidFill>
              </a:rPr>
              <a:t>la solución tiene que vivir en la evaluación y en el flujo del docente, no ser otro tutor más.</a:t>
            </a:r>
            <a:endParaRPr lang="en-US" sz="1900" dirty="0"/>
          </a:p>
        </p:txBody>
      </p:sp>
      <p:sp>
        <p:nvSpPr>
          <p:cNvPr id="25" name="Slide Number Placeholder 0"/>
          <p:cNvSpPr>
            <a:spLocks noGrp="1"/>
          </p:cNvSpPr>
          <p:nvPr>
            <p:ph type="sldNum" sz="quarter" idx="4294967295"/>
          </p:nvPr>
        </p:nvSpPr>
        <p:spPr>
          <a:xfrm>
            <a:off x="11277295" y="6355080"/>
            <a:ext cx="4114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4F556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300" b="1" spc="200" kern="0" dirty="0">
                <a:solidFill>
                  <a:schemeClr val="accent1"/>
                </a:solidFill>
              </a:rPr>
              <a:t>POR QUÉ · POR QUÉ AHORA</a:t>
            </a:r>
            <a:endParaRPr lang="en-US" sz="1300" dirty="0"/>
          </a:p>
        </p:txBody>
      </p:sp>
      <p:sp>
        <p:nvSpPr>
          <p:cNvPr id="3" name="Text 0"/>
          <p:cNvSpPr/>
          <p:nvPr>
            <p:ph idx="101" type="title" hasCustomPrompt="1"/>
          </p:nvPr>
        </p:nvSpPr>
        <p:spPr>
          <a:xfrm>
            <a:off x="548640" y="685800"/>
            <a:ext cx="11094415" cy="777240"/>
          </a:xfrm>
          <a:prstGeom prst="rect">
            <a:avLst/>
          </a:prstGeom>
          <a:noFill/>
          <a:ln/>
        </p:spPr>
        <p:txBody>
          <a:bodyPr wrap="square" lIns="0" tIns="0" rIns="0" bIns="0" rtlCol="0" anchor="t"/>
          <a:lstStyle/>
          <a:p>
            <a:pPr algn="l" indent="0" marL="0">
              <a:buNone/>
            </a:pPr>
            <a:r>
              <a:rPr lang="en-US" sz="3400" b="1" dirty="0">
                <a:solidFill>
                  <a:schemeClr val="tx1"/>
                </a:solidFill>
              </a:rPr>
              <a:t>La defensa oral funciona, pero no escala</a:t>
            </a:r>
            <a:endParaRPr lang="en-US" sz="3400" dirty="0"/>
          </a:p>
        </p:txBody>
      </p:sp>
      <p:sp>
        <p:nvSpPr>
          <p:cNvPr id="4" name="Text 0"/>
          <p:cNvSpPr/>
          <p:nvPr>
            <p:ph idx="102" type="body" hasCustomPrompt="1"/>
          </p:nvPr>
        </p:nvSpPr>
        <p:spPr>
          <a:xfrm>
            <a:off x="548640" y="6355080"/>
            <a:ext cx="10180015" cy="320040"/>
          </a:xfrm>
          <a:prstGeom prst="rect">
            <a:avLst/>
          </a:prstGeom>
          <a:noFill/>
          <a:ln/>
        </p:spPr>
        <p:txBody>
          <a:bodyPr wrap="square" lIns="0" tIns="0" rIns="0" bIns="0" rtlCol="0"/>
          <a:lstStyle/>
          <a:p>
            <a:pPr indent="0" marL="0">
              <a:buNone/>
            </a:pPr>
            <a:r>
              <a:rPr lang="en-US" sz="1000" dirty="0">
                <a:solidFill>
                  <a:schemeClr val="accent4"/>
                </a:solidFill>
              </a:rPr>
              <a:t>Fuentes: Universidad de Adelaide · CAUSE / ASEE · OCDE EAG 2026 vía Gestión</a:t>
            </a:r>
            <a:endParaRPr lang="en-US" sz="1000" dirty="0"/>
          </a:p>
        </p:txBody>
      </p:sp>
      <p:sp>
        <p:nvSpPr>
          <p:cNvPr id="5" name="Works card"/>
          <p:cNvSpPr/>
          <p:nvPr/>
        </p:nvSpPr>
        <p:spPr>
          <a:xfrm>
            <a:off x="548640" y="1783080"/>
            <a:ext cx="5394960" cy="3566160"/>
          </a:xfrm>
          <a:prstGeom prst="roundRect">
            <a:avLst>
              <a:gd name="adj" fmla="val 3077"/>
            </a:avLst>
          </a:prstGeom>
          <a:solidFill>
            <a:srgbClr val="E7ECFB"/>
          </a:solidFill>
          <a:ln w="12700">
            <a:solidFill>
              <a:srgbClr val="E7ECFB"/>
            </a:solidFill>
            <a:prstDash val="solid"/>
          </a:ln>
        </p:spPr>
      </p:sp>
      <p:sp>
        <p:nvSpPr>
          <p:cNvPr id="6" name="Works takeaway"/>
          <p:cNvSpPr txBox="1"/>
          <p:nvPr/>
        </p:nvSpPr>
        <p:spPr>
          <a:xfrm>
            <a:off x="868680" y="4526280"/>
            <a:ext cx="4754880" cy="640080"/>
          </a:xfrm>
          <a:prstGeom prst="rect">
            <a:avLst/>
          </a:prstGeom>
          <a:noFill/>
          <a:ln/>
        </p:spPr>
        <p:txBody>
          <a:bodyPr wrap="square" lIns="0" tIns="0" rIns="0" bIns="0" rtlCol="0" anchor="t"/>
          <a:lstStyle/>
          <a:p>
            <a:pPr indent="0" marL="0">
              <a:buNone/>
            </a:pPr>
            <a:r>
              <a:rPr lang="en-US" sz="1600" b="1" dirty="0">
                <a:solidFill>
                  <a:srgbClr val="1B2F8F"/>
                </a:solidFill>
              </a:rPr>
              <a:t>La evidencia apunta a explicar lo propio, no a vigilar.</a:t>
            </a:r>
            <a:endParaRPr lang="en-US" sz="1600" dirty="0"/>
          </a:p>
        </p:txBody>
      </p:sp>
      <p:sp>
        <p:nvSpPr>
          <p:cNvPr id="7" name="Oral defense works circle"/>
          <p:cNvSpPr/>
          <p:nvPr/>
        </p:nvSpPr>
        <p:spPr>
          <a:xfrm>
            <a:off x="868680" y="2057400"/>
            <a:ext cx="731520" cy="731520"/>
          </a:xfrm>
          <a:prstGeom prst="ellipse">
            <a:avLst/>
          </a:prstGeom>
          <a:solidFill>
            <a:srgbClr val="2340B8"/>
          </a:solidFill>
          <a:ln w="12700">
            <a:solidFill>
              <a:srgbClr val="2340B8"/>
            </a:solidFill>
            <a:prstDash val="solid"/>
          </a:ln>
        </p:spPr>
      </p:sp>
      <p:pic>
        <p:nvPicPr>
          <p:cNvPr id="8" name="Image 0" descr="Oral defense works">    </p:cNvPr>
          <p:cNvPicPr>
            <a:picLocks noChangeAspect="1"/>
          </p:cNvPicPr>
          <p:nvPr/>
        </p:nvPicPr>
        <p:blipFill>
          <a:blip r:embed="rId1"/>
          <a:stretch>
            <a:fillRect/>
          </a:stretch>
        </p:blipFill>
        <p:spPr>
          <a:xfrm>
            <a:off x="1044245" y="2232965"/>
            <a:ext cx="380390" cy="380390"/>
          </a:xfrm>
          <a:prstGeom prst="rect">
            <a:avLst/>
          </a:prstGeom>
        </p:spPr>
      </p:pic>
      <p:sp>
        <p:nvSpPr>
          <p:cNvPr id="9" name="Works title"/>
          <p:cNvSpPr txBox="1"/>
          <p:nvPr/>
        </p:nvSpPr>
        <p:spPr>
          <a:xfrm>
            <a:off x="1783080" y="2103120"/>
            <a:ext cx="3657600" cy="640080"/>
          </a:xfrm>
          <a:prstGeom prst="rect">
            <a:avLst/>
          </a:prstGeom>
          <a:noFill/>
          <a:ln/>
        </p:spPr>
        <p:txBody>
          <a:bodyPr wrap="square" lIns="0" tIns="0" rIns="0" bIns="0" rtlCol="0" anchor="ctr"/>
          <a:lstStyle/>
          <a:p>
            <a:pPr indent="0" marL="0">
              <a:buNone/>
            </a:pPr>
            <a:r>
              <a:rPr lang="en-US" sz="2400" b="1" dirty="0">
                <a:solidFill>
                  <a:srgbClr val="1B2F8F"/>
                </a:solidFill>
              </a:rPr>
              <a:t>Funciona</a:t>
            </a:r>
            <a:endParaRPr lang="en-US" sz="2400" dirty="0"/>
          </a:p>
        </p:txBody>
      </p:sp>
      <p:sp>
        <p:nvSpPr>
          <p:cNvPr id="10" name="Works detail"/>
          <p:cNvSpPr txBox="1"/>
          <p:nvPr/>
        </p:nvSpPr>
        <p:spPr>
          <a:xfrm>
            <a:off x="868680" y="3017520"/>
            <a:ext cx="4754880" cy="1371600"/>
          </a:xfrm>
          <a:prstGeom prst="rect">
            <a:avLst/>
          </a:prstGeom>
          <a:noFill/>
          <a:ln/>
        </p:spPr>
        <p:txBody>
          <a:bodyPr wrap="square" lIns="0" tIns="0" rIns="0" bIns="0" rtlCol="0" anchor="t"/>
          <a:lstStyle/>
          <a:p>
            <a:pPr indent="0" marL="0">
              <a:buNone/>
            </a:pPr>
            <a:r>
              <a:rPr lang="en-US" sz="1700" dirty="0">
                <a:solidFill>
                  <a:srgbClr val="141B34"/>
                </a:solidFill>
              </a:rPr>
              <a:t>Explicar lo propio resiste el mal uso de la IA: en Adelaide, la evaluación oral fue resistente y la ansiedad inicial no bajó el desempeño.</a:t>
            </a:r>
            <a:endParaRPr lang="en-US" sz="1700" dirty="0"/>
          </a:p>
        </p:txBody>
      </p:sp>
      <p:sp>
        <p:nvSpPr>
          <p:cNvPr id="11" name="Scale card"/>
          <p:cNvSpPr/>
          <p:nvPr/>
        </p:nvSpPr>
        <p:spPr>
          <a:xfrm>
            <a:off x="6263640" y="1783080"/>
            <a:ext cx="5376672" cy="3566160"/>
          </a:xfrm>
          <a:prstGeom prst="roundRect">
            <a:avLst>
              <a:gd name="adj" fmla="val 3077"/>
            </a:avLst>
          </a:prstGeom>
          <a:solidFill>
            <a:srgbClr val="F3F4F8"/>
          </a:solidFill>
          <a:ln w="12700">
            <a:solidFill>
              <a:srgbClr val="F3F4F8"/>
            </a:solidFill>
            <a:prstDash val="solid"/>
          </a:ln>
        </p:spPr>
      </p:sp>
      <p:sp>
        <p:nvSpPr>
          <p:cNvPr id="12" name="Minutes stat"/>
          <p:cNvSpPr txBox="1"/>
          <p:nvPr/>
        </p:nvSpPr>
        <p:spPr>
          <a:xfrm>
            <a:off x="6583680" y="1965960"/>
            <a:ext cx="4754880" cy="914400"/>
          </a:xfrm>
          <a:prstGeom prst="rect">
            <a:avLst/>
          </a:prstGeom>
          <a:noFill/>
          <a:ln/>
        </p:spPr>
        <p:txBody>
          <a:bodyPr wrap="square" lIns="0" tIns="0" rIns="0" bIns="0" rtlCol="0" anchor="ctr"/>
          <a:lstStyle/>
          <a:p>
            <a:pPr indent="0" marL="0">
              <a:buNone/>
            </a:pPr>
            <a:r>
              <a:rPr lang="en-US" sz="4800" b="1" dirty="0">
                <a:solidFill>
                  <a:srgbClr val="B8461F"/>
                </a:solidFill>
              </a:rPr>
              <a:t>15–20 min</a:t>
            </a:r>
            <a:endParaRPr lang="en-US" sz="4800" dirty="0"/>
          </a:p>
        </p:txBody>
      </p:sp>
      <p:sp>
        <p:nvSpPr>
          <p:cNvPr id="13" name="Minutes label"/>
          <p:cNvSpPr txBox="1"/>
          <p:nvPr/>
        </p:nvSpPr>
        <p:spPr>
          <a:xfrm>
            <a:off x="6583680" y="2880360"/>
            <a:ext cx="4754880" cy="731520"/>
          </a:xfrm>
          <a:prstGeom prst="rect">
            <a:avLst/>
          </a:prstGeom>
          <a:noFill/>
          <a:ln/>
        </p:spPr>
        <p:txBody>
          <a:bodyPr wrap="square" lIns="0" tIns="0" rIns="0" bIns="0" rtlCol="0" anchor="t"/>
          <a:lstStyle/>
          <a:p>
            <a:pPr indent="0" marL="0">
              <a:buNone/>
            </a:pPr>
            <a:r>
              <a:rPr lang="en-US" sz="1600" dirty="0">
                <a:solidFill>
                  <a:srgbClr val="141B34"/>
                </a:solidFill>
              </a:rPr>
              <a:t>por alumno: con 150 alumnos, imposible para un docente</a:t>
            </a:r>
            <a:endParaRPr lang="en-US" sz="1600" dirty="0"/>
          </a:p>
        </p:txBody>
      </p:sp>
      <p:sp>
        <p:nvSpPr>
          <p:cNvPr id="14" name="Teachers stat"/>
          <p:cNvSpPr txBox="1"/>
          <p:nvPr/>
        </p:nvSpPr>
        <p:spPr>
          <a:xfrm>
            <a:off x="6583680" y="3657600"/>
            <a:ext cx="4754880" cy="822960"/>
          </a:xfrm>
          <a:prstGeom prst="rect">
            <a:avLst/>
          </a:prstGeom>
          <a:noFill/>
          <a:ln/>
        </p:spPr>
        <p:txBody>
          <a:bodyPr wrap="square" lIns="0" tIns="0" rIns="0" bIns="0" rtlCol="0" anchor="ctr"/>
          <a:lstStyle/>
          <a:p>
            <a:pPr indent="0" marL="0">
              <a:buNone/>
            </a:pPr>
            <a:r>
              <a:rPr lang="en-US" sz="4000" b="1" dirty="0">
                <a:solidFill>
                  <a:srgbClr val="141B34"/>
                </a:solidFill>
              </a:rPr>
              <a:t>1 de cada 5</a:t>
            </a:r>
            <a:endParaRPr lang="en-US" sz="4000" dirty="0"/>
          </a:p>
        </p:txBody>
      </p:sp>
      <p:sp>
        <p:nvSpPr>
          <p:cNvPr id="15" name="Teachers label"/>
          <p:cNvSpPr txBox="1"/>
          <p:nvPr/>
        </p:nvSpPr>
        <p:spPr>
          <a:xfrm>
            <a:off x="6583680" y="4480560"/>
            <a:ext cx="4754880" cy="731520"/>
          </a:xfrm>
          <a:prstGeom prst="rect">
            <a:avLst/>
          </a:prstGeom>
          <a:noFill/>
          <a:ln/>
        </p:spPr>
        <p:txBody>
          <a:bodyPr wrap="square" lIns="0" tIns="0" rIns="0" bIns="0" rtlCol="0" anchor="t"/>
          <a:lstStyle/>
          <a:p>
            <a:pPr indent="0" marL="0">
              <a:buNone/>
            </a:pPr>
            <a:r>
              <a:rPr lang="en-US" sz="1600" dirty="0">
                <a:solidFill>
                  <a:srgbClr val="141B34"/>
                </a:solidFill>
              </a:rPr>
              <a:t>docentes de secundaria tiene 55 años o más: hacia 2036, menos docentes</a:t>
            </a:r>
            <a:endParaRPr lang="en-US" sz="1600" dirty="0"/>
          </a:p>
        </p:txBody>
      </p:sp>
      <p:sp>
        <p:nvSpPr>
          <p:cNvPr id="16" name="Scale takeaway"/>
          <p:cNvSpPr txBox="1"/>
          <p:nvPr/>
        </p:nvSpPr>
        <p:spPr>
          <a:xfrm>
            <a:off x="548640" y="5577840"/>
            <a:ext cx="11094415" cy="502920"/>
          </a:xfrm>
          <a:prstGeom prst="rect">
            <a:avLst/>
          </a:prstGeom>
          <a:noFill/>
          <a:ln/>
        </p:spPr>
        <p:txBody>
          <a:bodyPr wrap="square" lIns="0" tIns="0" rIns="0" bIns="0" rtlCol="0" anchor="ctr"/>
          <a:lstStyle/>
          <a:p>
            <a:pPr indent="0" marL="0">
              <a:buNone/>
            </a:pPr>
            <a:r>
              <a:rPr lang="en-US" sz="2000" b="1" dirty="0">
                <a:solidFill>
                  <a:srgbClr val="141B34"/>
                </a:solidFill>
              </a:rPr>
              <a:t>Necesitamos la defensa, pero para toda la clase.</a:t>
            </a:r>
            <a:endParaRPr lang="en-US" sz="2000" dirty="0"/>
          </a:p>
        </p:txBody>
      </p:sp>
      <p:sp>
        <p:nvSpPr>
          <p:cNvPr id="25" name="Slide Number Placeholder 0"/>
          <p:cNvSpPr>
            <a:spLocks noGrp="1"/>
          </p:cNvSpPr>
          <p:nvPr>
            <p:ph type="sldNum" sz="quarter" idx="4294967295"/>
          </p:nvPr>
        </p:nvSpPr>
        <p:spPr>
          <a:xfrm>
            <a:off x="11277295" y="6355080"/>
            <a:ext cx="4114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4F556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300" b="1" spc="200" kern="0" dirty="0">
                <a:solidFill>
                  <a:schemeClr val="accent1"/>
                </a:solidFill>
              </a:rPr>
              <a:t>CÓMO · NUESTROS PRINCIPIOS</a:t>
            </a:r>
            <a:endParaRPr lang="en-US" sz="1300" dirty="0"/>
          </a:p>
        </p:txBody>
      </p:sp>
      <p:sp>
        <p:nvSpPr>
          <p:cNvPr id="3" name="Text 0"/>
          <p:cNvSpPr/>
          <p:nvPr>
            <p:ph idx="101" type="title" hasCustomPrompt="1"/>
          </p:nvPr>
        </p:nvSpPr>
        <p:spPr>
          <a:xfrm>
            <a:off x="548640" y="685800"/>
            <a:ext cx="11094415" cy="777240"/>
          </a:xfrm>
          <a:prstGeom prst="rect">
            <a:avLst/>
          </a:prstGeom>
          <a:noFill/>
          <a:ln/>
        </p:spPr>
        <p:txBody>
          <a:bodyPr wrap="square" lIns="0" tIns="0" rIns="0" bIns="0" rtlCol="0" anchor="t"/>
          <a:lstStyle/>
          <a:p>
            <a:pPr algn="l" indent="0" marL="0">
              <a:buNone/>
            </a:pPr>
            <a:r>
              <a:rPr lang="en-US" sz="3400" b="1" dirty="0">
                <a:solidFill>
                  <a:schemeClr val="tx1"/>
                </a:solidFill>
              </a:rPr>
              <a:t>Tres principios guían cada decisión</a:t>
            </a:r>
            <a:endParaRPr lang="en-US" sz="3400" dirty="0"/>
          </a:p>
        </p:txBody>
      </p:sp>
      <p:sp>
        <p:nvSpPr>
          <p:cNvPr id="4" name="Text 0"/>
          <p:cNvSpPr/>
          <p:nvPr>
            <p:ph idx="102" type="body" hasCustomPrompt="1"/>
          </p:nvPr>
        </p:nvSpPr>
        <p:spPr>
          <a:xfrm>
            <a:off x="548640" y="6355080"/>
            <a:ext cx="10180015" cy="320040"/>
          </a:xfrm>
          <a:prstGeom prst="rect">
            <a:avLst/>
          </a:prstGeom>
          <a:noFill/>
          <a:ln/>
        </p:spPr>
        <p:txBody>
          <a:bodyPr wrap="square" lIns="0" tIns="0" rIns="0" bIns="0" rtlCol="0"/>
          <a:lstStyle/>
          <a:p>
            <a:pPr indent="0" marL="0">
              <a:buNone/>
            </a:pPr>
            <a:r>
              <a:rPr lang="en-US" sz="1000" dirty="0">
                <a:solidFill>
                  <a:schemeClr val="accent4"/>
                </a:solidFill>
              </a:rPr>
              <a:t>Fuentes: Bisra et al. 2018 (64 estudios) · D.S. 115-2025-PCM, art. 24.1 b) · RVM 094-2020-MINEDU</a:t>
            </a:r>
            <a:endParaRPr lang="en-US" sz="1000" dirty="0"/>
          </a:p>
        </p:txBody>
      </p:sp>
      <p:sp>
        <p:nvSpPr>
          <p:cNvPr id="5" name="Principle 1 card"/>
          <p:cNvSpPr/>
          <p:nvPr/>
        </p:nvSpPr>
        <p:spPr>
          <a:xfrm>
            <a:off x="548640" y="1783080"/>
            <a:ext cx="3474720" cy="3383280"/>
          </a:xfrm>
          <a:prstGeom prst="roundRect">
            <a:avLst>
              <a:gd name="adj" fmla="val 3243"/>
            </a:avLst>
          </a:prstGeom>
          <a:solidFill>
            <a:srgbClr val="F3F4F8"/>
          </a:solidFill>
          <a:ln w="12700">
            <a:solidFill>
              <a:srgbClr val="F3F4F8"/>
            </a:solidFill>
            <a:prstDash val="solid"/>
          </a:ln>
        </p:spPr>
      </p:sp>
      <p:sp>
        <p:nvSpPr>
          <p:cNvPr id="6" name="La IA está permitida circle"/>
          <p:cNvSpPr/>
          <p:nvPr/>
        </p:nvSpPr>
        <p:spPr>
          <a:xfrm>
            <a:off x="868680" y="2103120"/>
            <a:ext cx="914400" cy="914400"/>
          </a:xfrm>
          <a:prstGeom prst="ellipse">
            <a:avLst/>
          </a:prstGeom>
          <a:solidFill>
            <a:srgbClr val="2340B8"/>
          </a:solidFill>
          <a:ln w="12700">
            <a:solidFill>
              <a:srgbClr val="2340B8"/>
            </a:solidFill>
            <a:prstDash val="solid"/>
          </a:ln>
        </p:spPr>
      </p:sp>
      <p:pic>
        <p:nvPicPr>
          <p:cNvPr id="7" name="Image 0" descr="La IA está permitida">    </p:cNvPr>
          <p:cNvPicPr>
            <a:picLocks noChangeAspect="1"/>
          </p:cNvPicPr>
          <p:nvPr/>
        </p:nvPicPr>
        <p:blipFill>
          <a:blip r:embed="rId1"/>
          <a:stretch>
            <a:fillRect/>
          </a:stretch>
        </p:blipFill>
        <p:spPr>
          <a:xfrm>
            <a:off x="1088136" y="2322576"/>
            <a:ext cx="475488" cy="475488"/>
          </a:xfrm>
          <a:prstGeom prst="rect">
            <a:avLst/>
          </a:prstGeom>
        </p:spPr>
      </p:pic>
      <p:sp>
        <p:nvSpPr>
          <p:cNvPr id="8" name="Principle 1 title"/>
          <p:cNvSpPr txBox="1"/>
          <p:nvPr/>
        </p:nvSpPr>
        <p:spPr>
          <a:xfrm>
            <a:off x="868680" y="3246120"/>
            <a:ext cx="2834640" cy="822960"/>
          </a:xfrm>
          <a:prstGeom prst="rect">
            <a:avLst/>
          </a:prstGeom>
          <a:noFill/>
          <a:ln/>
        </p:spPr>
        <p:txBody>
          <a:bodyPr wrap="square" lIns="0" tIns="0" rIns="0" bIns="0" rtlCol="0" anchor="t"/>
          <a:lstStyle/>
          <a:p>
            <a:pPr indent="0" marL="0">
              <a:buNone/>
            </a:pPr>
            <a:r>
              <a:rPr lang="en-US" sz="2100" b="1" dirty="0">
                <a:solidFill>
                  <a:srgbClr val="141B34"/>
                </a:solidFill>
              </a:rPr>
              <a:t>La IA está permitida</a:t>
            </a:r>
            <a:endParaRPr lang="en-US" sz="2100" dirty="0"/>
          </a:p>
        </p:txBody>
      </p:sp>
      <p:sp>
        <p:nvSpPr>
          <p:cNvPr id="9" name="Principle 1 detail"/>
          <p:cNvSpPr txBox="1"/>
          <p:nvPr/>
        </p:nvSpPr>
        <p:spPr>
          <a:xfrm>
            <a:off x="868680" y="4069080"/>
            <a:ext cx="2834640" cy="1554480"/>
          </a:xfrm>
          <a:prstGeom prst="rect">
            <a:avLst/>
          </a:prstGeom>
          <a:noFill/>
          <a:ln/>
        </p:spPr>
        <p:txBody>
          <a:bodyPr wrap="square" lIns="0" tIns="0" rIns="0" bIns="0" rtlCol="0" anchor="t"/>
          <a:lstStyle/>
          <a:p>
            <a:pPr indent="0" marL="0">
              <a:buNone/>
            </a:pPr>
            <a:r>
              <a:rPr lang="en-US" sz="1500" dirty="0">
                <a:solidFill>
                  <a:srgbClr val="4F5568"/>
                </a:solidFill>
              </a:rPr>
              <a:t>No detectamos ni acusamos. Preguntamos si entiende lo que entregó.</a:t>
            </a:r>
            <a:endParaRPr lang="en-US" sz="1500" dirty="0"/>
          </a:p>
        </p:txBody>
      </p:sp>
      <p:sp>
        <p:nvSpPr>
          <p:cNvPr id="10" name="Principle 2 card"/>
          <p:cNvSpPr/>
          <p:nvPr/>
        </p:nvSpPr>
        <p:spPr>
          <a:xfrm>
            <a:off x="4297680" y="1783080"/>
            <a:ext cx="3474720" cy="3383280"/>
          </a:xfrm>
          <a:prstGeom prst="roundRect">
            <a:avLst>
              <a:gd name="adj" fmla="val 3243"/>
            </a:avLst>
          </a:prstGeom>
          <a:solidFill>
            <a:srgbClr val="F3F4F8"/>
          </a:solidFill>
          <a:ln w="12700">
            <a:solidFill>
              <a:srgbClr val="F3F4F8"/>
            </a:solidFill>
            <a:prstDash val="solid"/>
          </a:ln>
        </p:spPr>
      </p:sp>
      <p:sp>
        <p:nvSpPr>
          <p:cNvPr id="11" name="Defender enseña circle"/>
          <p:cNvSpPr/>
          <p:nvPr/>
        </p:nvSpPr>
        <p:spPr>
          <a:xfrm>
            <a:off x="4617720" y="2103120"/>
            <a:ext cx="914400" cy="914400"/>
          </a:xfrm>
          <a:prstGeom prst="ellipse">
            <a:avLst/>
          </a:prstGeom>
          <a:solidFill>
            <a:srgbClr val="2340B8"/>
          </a:solidFill>
          <a:ln w="12700">
            <a:solidFill>
              <a:srgbClr val="2340B8"/>
            </a:solidFill>
            <a:prstDash val="solid"/>
          </a:ln>
        </p:spPr>
      </p:sp>
      <p:pic>
        <p:nvPicPr>
          <p:cNvPr id="12" name="Image 1" descr="Defender enseña">    </p:cNvPr>
          <p:cNvPicPr>
            <a:picLocks noChangeAspect="1"/>
          </p:cNvPicPr>
          <p:nvPr/>
        </p:nvPicPr>
        <p:blipFill>
          <a:blip r:embed="rId2"/>
          <a:stretch>
            <a:fillRect/>
          </a:stretch>
        </p:blipFill>
        <p:spPr>
          <a:xfrm>
            <a:off x="4837176" y="2322576"/>
            <a:ext cx="475488" cy="475488"/>
          </a:xfrm>
          <a:prstGeom prst="rect">
            <a:avLst/>
          </a:prstGeom>
        </p:spPr>
      </p:pic>
      <p:sp>
        <p:nvSpPr>
          <p:cNvPr id="13" name="Principle 2 title"/>
          <p:cNvSpPr txBox="1"/>
          <p:nvPr/>
        </p:nvSpPr>
        <p:spPr>
          <a:xfrm>
            <a:off x="4617720" y="3246120"/>
            <a:ext cx="2834640" cy="822960"/>
          </a:xfrm>
          <a:prstGeom prst="rect">
            <a:avLst/>
          </a:prstGeom>
          <a:noFill/>
          <a:ln/>
        </p:spPr>
        <p:txBody>
          <a:bodyPr wrap="square" lIns="0" tIns="0" rIns="0" bIns="0" rtlCol="0" anchor="t"/>
          <a:lstStyle/>
          <a:p>
            <a:pPr indent="0" marL="0">
              <a:buNone/>
            </a:pPr>
            <a:r>
              <a:rPr lang="en-US" sz="2100" b="1" dirty="0">
                <a:solidFill>
                  <a:srgbClr val="141B34"/>
                </a:solidFill>
              </a:rPr>
              <a:t>Defender enseña</a:t>
            </a:r>
            <a:endParaRPr lang="en-US" sz="2100" dirty="0"/>
          </a:p>
        </p:txBody>
      </p:sp>
      <p:sp>
        <p:nvSpPr>
          <p:cNvPr id="14" name="Principle 2 detail"/>
          <p:cNvSpPr txBox="1"/>
          <p:nvPr/>
        </p:nvSpPr>
        <p:spPr>
          <a:xfrm>
            <a:off x="4617720" y="4069080"/>
            <a:ext cx="2834640" cy="1554480"/>
          </a:xfrm>
          <a:prstGeom prst="rect">
            <a:avLst/>
          </a:prstGeom>
          <a:noFill/>
          <a:ln/>
        </p:spPr>
        <p:txBody>
          <a:bodyPr wrap="square" lIns="0" tIns="0" rIns="0" bIns="0" rtlCol="0" anchor="t"/>
          <a:lstStyle/>
          <a:p>
            <a:pPr indent="0" marL="0">
              <a:buNone/>
            </a:pPr>
            <a:r>
              <a:rPr lang="en-US" sz="1500" dirty="0">
                <a:solidFill>
                  <a:srgbClr val="4F5568"/>
                </a:solidFill>
              </a:rPr>
              <a:t>Explicar el propio trabajo es autoexplicación: ≈ medio desvío estándar de efecto (g = 0,55).</a:t>
            </a:r>
            <a:endParaRPr lang="en-US" sz="1500" dirty="0"/>
          </a:p>
        </p:txBody>
      </p:sp>
      <p:sp>
        <p:nvSpPr>
          <p:cNvPr id="15" name="Principle 3 card"/>
          <p:cNvSpPr/>
          <p:nvPr/>
        </p:nvSpPr>
        <p:spPr>
          <a:xfrm>
            <a:off x="8046720" y="1783080"/>
            <a:ext cx="3474720" cy="3383280"/>
          </a:xfrm>
          <a:prstGeom prst="roundRect">
            <a:avLst>
              <a:gd name="adj" fmla="val 3243"/>
            </a:avLst>
          </a:prstGeom>
          <a:solidFill>
            <a:srgbClr val="F3F4F8"/>
          </a:solidFill>
          <a:ln w="12700">
            <a:solidFill>
              <a:srgbClr val="F3F4F8"/>
            </a:solidFill>
            <a:prstDash val="solid"/>
          </a:ln>
        </p:spPr>
      </p:sp>
      <p:sp>
        <p:nvSpPr>
          <p:cNvPr id="16" name="La IA sugiere, el docente decide circle"/>
          <p:cNvSpPr/>
          <p:nvPr/>
        </p:nvSpPr>
        <p:spPr>
          <a:xfrm>
            <a:off x="8366760" y="2103120"/>
            <a:ext cx="914400" cy="914400"/>
          </a:xfrm>
          <a:prstGeom prst="ellipse">
            <a:avLst/>
          </a:prstGeom>
          <a:solidFill>
            <a:srgbClr val="2340B8"/>
          </a:solidFill>
          <a:ln w="12700">
            <a:solidFill>
              <a:srgbClr val="2340B8"/>
            </a:solidFill>
            <a:prstDash val="solid"/>
          </a:ln>
        </p:spPr>
      </p:sp>
      <p:pic>
        <p:nvPicPr>
          <p:cNvPr id="17" name="Image 2" descr="La IA sugiere, el docente decide">    </p:cNvPr>
          <p:cNvPicPr>
            <a:picLocks noChangeAspect="1"/>
          </p:cNvPicPr>
          <p:nvPr/>
        </p:nvPicPr>
        <p:blipFill>
          <a:blip r:embed="rId3"/>
          <a:stretch>
            <a:fillRect/>
          </a:stretch>
        </p:blipFill>
        <p:spPr>
          <a:xfrm>
            <a:off x="8586216" y="2322576"/>
            <a:ext cx="475488" cy="475488"/>
          </a:xfrm>
          <a:prstGeom prst="rect">
            <a:avLst/>
          </a:prstGeom>
        </p:spPr>
      </p:pic>
      <p:sp>
        <p:nvSpPr>
          <p:cNvPr id="18" name="Principle 3 title"/>
          <p:cNvSpPr txBox="1"/>
          <p:nvPr/>
        </p:nvSpPr>
        <p:spPr>
          <a:xfrm>
            <a:off x="8366760" y="3246120"/>
            <a:ext cx="2834640" cy="822960"/>
          </a:xfrm>
          <a:prstGeom prst="rect">
            <a:avLst/>
          </a:prstGeom>
          <a:noFill/>
          <a:ln/>
        </p:spPr>
        <p:txBody>
          <a:bodyPr wrap="square" lIns="0" tIns="0" rIns="0" bIns="0" rtlCol="0" anchor="t"/>
          <a:lstStyle/>
          <a:p>
            <a:pPr indent="0" marL="0">
              <a:buNone/>
            </a:pPr>
            <a:r>
              <a:rPr lang="en-US" sz="2100" b="1" dirty="0">
                <a:solidFill>
                  <a:srgbClr val="141B34"/>
                </a:solidFill>
              </a:rPr>
              <a:t>La IA sugiere, el docente decide</a:t>
            </a:r>
            <a:endParaRPr lang="en-US" sz="2100" dirty="0"/>
          </a:p>
        </p:txBody>
      </p:sp>
      <p:sp>
        <p:nvSpPr>
          <p:cNvPr id="19" name="Principle 3 detail"/>
          <p:cNvSpPr txBox="1"/>
          <p:nvPr/>
        </p:nvSpPr>
        <p:spPr>
          <a:xfrm>
            <a:off x="8366760" y="4069080"/>
            <a:ext cx="2834640" cy="1554480"/>
          </a:xfrm>
          <a:prstGeom prst="rect">
            <a:avLst/>
          </a:prstGeom>
          <a:noFill/>
          <a:ln/>
        </p:spPr>
        <p:txBody>
          <a:bodyPr wrap="square" lIns="0" tIns="0" rIns="0" bIns="0" rtlCol="0" anchor="t"/>
          <a:lstStyle/>
          <a:p>
            <a:pPr indent="0" marL="0">
              <a:buNone/>
            </a:pPr>
            <a:r>
              <a:rPr lang="en-US" sz="1500" dirty="0">
                <a:solidFill>
                  <a:srgbClr val="4F5568"/>
                </a:solidFill>
              </a:rPr>
              <a:t>Diseñado para quedar fuera del riesgo alto del Reglamento peruano de IA: complementa, no reemplaza.</a:t>
            </a:r>
            <a:endParaRPr lang="en-US" sz="1500" dirty="0"/>
          </a:p>
        </p:txBody>
      </p:sp>
      <p:sp>
        <p:nvSpPr>
          <p:cNvPr id="25" name="Slide Number Placeholder 0"/>
          <p:cNvSpPr>
            <a:spLocks noGrp="1"/>
          </p:cNvSpPr>
          <p:nvPr>
            <p:ph type="sldNum" sz="quarter" idx="4294967295"/>
          </p:nvPr>
        </p:nvSpPr>
        <p:spPr>
          <a:xfrm>
            <a:off x="11277295" y="6355080"/>
            <a:ext cx="4114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4F556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300" b="1" spc="200" kern="0" dirty="0">
                <a:solidFill>
                  <a:schemeClr val="accent1"/>
                </a:solidFill>
              </a:rPr>
              <a:t>QUÉ · LA SOLUCIÓN</a:t>
            </a:r>
            <a:endParaRPr lang="en-US" sz="1300" dirty="0"/>
          </a:p>
        </p:txBody>
      </p:sp>
      <p:sp>
        <p:nvSpPr>
          <p:cNvPr id="3" name="Text 0"/>
          <p:cNvSpPr/>
          <p:nvPr>
            <p:ph idx="101" type="title" hasCustomPrompt="1"/>
          </p:nvPr>
        </p:nvSpPr>
        <p:spPr>
          <a:xfrm>
            <a:off x="548640" y="685800"/>
            <a:ext cx="11094415" cy="777240"/>
          </a:xfrm>
          <a:prstGeom prst="rect">
            <a:avLst/>
          </a:prstGeom>
          <a:noFill/>
          <a:ln/>
        </p:spPr>
        <p:txBody>
          <a:bodyPr wrap="square" lIns="0" tIns="0" rIns="0" bIns="0" rtlCol="0" anchor="t"/>
          <a:lstStyle/>
          <a:p>
            <a:pPr algn="l" indent="0" marL="0">
              <a:buNone/>
            </a:pPr>
            <a:r>
              <a:rPr lang="en-US" sz="3400" b="1" dirty="0">
                <a:solidFill>
                  <a:schemeClr val="tx1"/>
                </a:solidFill>
              </a:rPr>
              <a:t>De la tarea de siempre a una defensa para toda la clase</a:t>
            </a:r>
            <a:endParaRPr lang="en-US" sz="3400" dirty="0"/>
          </a:p>
        </p:txBody>
      </p:sp>
      <p:sp>
        <p:nvSpPr>
          <p:cNvPr id="4" name="Text 0"/>
          <p:cNvSpPr/>
          <p:nvPr>
            <p:ph idx="102" type="body" hasCustomPrompt="1"/>
          </p:nvPr>
        </p:nvSpPr>
        <p:spPr>
          <a:xfrm>
            <a:off x="548640" y="6355080"/>
            <a:ext cx="10180015" cy="320040"/>
          </a:xfrm>
          <a:prstGeom prst="rect">
            <a:avLst/>
          </a:prstGeom>
          <a:noFill/>
          <a:ln/>
        </p:spPr>
        <p:txBody>
          <a:bodyPr wrap="square" lIns="0" tIns="0" rIns="0" bIns="0" rtlCol="0"/>
          <a:lstStyle/>
          <a:p>
            <a:pPr indent="0" marL="0">
              <a:buNone/>
            </a:pPr>
            <a:r>
              <a:rPr lang="en-US" sz="1000" dirty="0">
                <a:solidFill>
                  <a:schemeClr val="accent4"/>
                </a:solidFill>
              </a:rPr>
              <a:t>Demo: defiendelo.vercel.app · 9 tareas de ejemplo de 8 cursos, con su PDF</a:t>
            </a:r>
            <a:endParaRPr lang="en-US" sz="1000" dirty="0"/>
          </a:p>
        </p:txBody>
      </p:sp>
      <p:sp>
        <p:nvSpPr>
          <p:cNvPr id="5" name="Solution step 1 card"/>
          <p:cNvSpPr/>
          <p:nvPr/>
        </p:nvSpPr>
        <p:spPr>
          <a:xfrm>
            <a:off x="548640" y="1783080"/>
            <a:ext cx="2606040" cy="3246120"/>
          </a:xfrm>
          <a:prstGeom prst="roundRect">
            <a:avLst>
              <a:gd name="adj" fmla="val 4211"/>
            </a:avLst>
          </a:prstGeom>
          <a:solidFill>
            <a:srgbClr val="F3F4F8"/>
          </a:solidFill>
          <a:ln w="12700">
            <a:solidFill>
              <a:srgbClr val="F3F4F8"/>
            </a:solidFill>
            <a:prstDash val="solid"/>
          </a:ln>
        </p:spPr>
      </p:sp>
      <p:sp>
        <p:nvSpPr>
          <p:cNvPr id="6" name="Solution step 1 number"/>
          <p:cNvSpPr txBox="1"/>
          <p:nvPr/>
        </p:nvSpPr>
        <p:spPr>
          <a:xfrm>
            <a:off x="822960" y="1965960"/>
            <a:ext cx="731520" cy="731520"/>
          </a:xfrm>
          <a:prstGeom prst="rect">
            <a:avLst/>
          </a:prstGeom>
          <a:noFill/>
          <a:ln/>
        </p:spPr>
        <p:txBody>
          <a:bodyPr wrap="square" lIns="0" tIns="0" rIns="0" bIns="0" rtlCol="0" anchor="ctr"/>
          <a:lstStyle/>
          <a:p>
            <a:pPr indent="0" marL="0">
              <a:buNone/>
            </a:pPr>
            <a:r>
              <a:rPr lang="en-US" sz="4000" b="1" dirty="0">
                <a:solidFill>
                  <a:srgbClr val="2340B8"/>
                </a:solidFill>
              </a:rPr>
              <a:t>1</a:t>
            </a:r>
            <a:endParaRPr lang="en-US" sz="4000" dirty="0"/>
          </a:p>
        </p:txBody>
      </p:sp>
      <p:pic>
        <p:nvPicPr>
          <p:cNvPr id="7" name="Image 0" descr="Rediseña">    </p:cNvPr>
          <p:cNvPicPr>
            <a:picLocks noChangeAspect="1"/>
          </p:cNvPicPr>
          <p:nvPr/>
        </p:nvPicPr>
        <p:blipFill>
          <a:blip r:embed="rId1"/>
          <a:stretch>
            <a:fillRect/>
          </a:stretch>
        </p:blipFill>
        <p:spPr>
          <a:xfrm>
            <a:off x="2331720" y="2103120"/>
            <a:ext cx="548640" cy="548640"/>
          </a:xfrm>
          <a:prstGeom prst="rect">
            <a:avLst/>
          </a:prstGeom>
        </p:spPr>
      </p:pic>
      <p:sp>
        <p:nvSpPr>
          <p:cNvPr id="8" name="Solution step 1 title"/>
          <p:cNvSpPr txBox="1"/>
          <p:nvPr/>
        </p:nvSpPr>
        <p:spPr>
          <a:xfrm>
            <a:off x="822960" y="2834640"/>
            <a:ext cx="2103120" cy="731520"/>
          </a:xfrm>
          <a:prstGeom prst="rect">
            <a:avLst/>
          </a:prstGeom>
          <a:noFill/>
          <a:ln/>
        </p:spPr>
        <p:txBody>
          <a:bodyPr wrap="square" lIns="0" tIns="0" rIns="0" bIns="0" rtlCol="0" anchor="t"/>
          <a:lstStyle/>
          <a:p>
            <a:pPr indent="0" marL="0">
              <a:buNone/>
            </a:pPr>
            <a:r>
              <a:rPr lang="en-US" sz="2000" b="1" dirty="0">
                <a:solidFill>
                  <a:srgbClr val="141B34"/>
                </a:solidFill>
              </a:rPr>
              <a:t>Rediseña</a:t>
            </a:r>
            <a:endParaRPr lang="en-US" sz="2000" dirty="0"/>
          </a:p>
        </p:txBody>
      </p:sp>
      <p:sp>
        <p:nvSpPr>
          <p:cNvPr id="9" name="Solution step 1 detail"/>
          <p:cNvSpPr txBox="1"/>
          <p:nvPr/>
        </p:nvSpPr>
        <p:spPr>
          <a:xfrm>
            <a:off x="822960" y="3566160"/>
            <a:ext cx="2103120" cy="1371600"/>
          </a:xfrm>
          <a:prstGeom prst="rect">
            <a:avLst/>
          </a:prstGeom>
          <a:noFill/>
          <a:ln/>
        </p:spPr>
        <p:txBody>
          <a:bodyPr wrap="square" lIns="0" tIns="0" rIns="0" bIns="0" rtlCol="0" anchor="t"/>
          <a:lstStyle/>
          <a:p>
            <a:pPr indent="0" marL="0">
              <a:buNone/>
            </a:pPr>
            <a:r>
              <a:rPr lang="en-US" sz="1400" dirty="0">
                <a:solidFill>
                  <a:srgbClr val="4F5568"/>
                </a:solidFill>
              </a:rPr>
              <a:t>El docente sube su tarea (PDF o Word). La IA mueve la nota hacia decisiones que el alumno defiende.</a:t>
            </a:r>
            <a:endParaRPr lang="en-US" sz="1400" dirty="0"/>
          </a:p>
        </p:txBody>
      </p:sp>
      <p:sp>
        <p:nvSpPr>
          <p:cNvPr id="10" name="Solution step 2 card"/>
          <p:cNvSpPr/>
          <p:nvPr/>
        </p:nvSpPr>
        <p:spPr>
          <a:xfrm>
            <a:off x="3355848" y="1783080"/>
            <a:ext cx="2606040" cy="3246120"/>
          </a:xfrm>
          <a:prstGeom prst="roundRect">
            <a:avLst>
              <a:gd name="adj" fmla="val 4211"/>
            </a:avLst>
          </a:prstGeom>
          <a:solidFill>
            <a:srgbClr val="F3F4F8"/>
          </a:solidFill>
          <a:ln w="12700">
            <a:solidFill>
              <a:srgbClr val="F3F4F8"/>
            </a:solidFill>
            <a:prstDash val="solid"/>
          </a:ln>
        </p:spPr>
      </p:sp>
      <p:sp>
        <p:nvSpPr>
          <p:cNvPr id="11" name="Solution step 2 number"/>
          <p:cNvSpPr txBox="1"/>
          <p:nvPr/>
        </p:nvSpPr>
        <p:spPr>
          <a:xfrm>
            <a:off x="3630168" y="1965960"/>
            <a:ext cx="731520" cy="731520"/>
          </a:xfrm>
          <a:prstGeom prst="rect">
            <a:avLst/>
          </a:prstGeom>
          <a:noFill/>
          <a:ln/>
        </p:spPr>
        <p:txBody>
          <a:bodyPr wrap="square" lIns="0" tIns="0" rIns="0" bIns="0" rtlCol="0" anchor="ctr"/>
          <a:lstStyle/>
          <a:p>
            <a:pPr indent="0" marL="0">
              <a:buNone/>
            </a:pPr>
            <a:r>
              <a:rPr lang="en-US" sz="4000" b="1" dirty="0">
                <a:solidFill>
                  <a:srgbClr val="2340B8"/>
                </a:solidFill>
              </a:rPr>
              <a:t>2</a:t>
            </a:r>
            <a:endParaRPr lang="en-US" sz="4000" dirty="0"/>
          </a:p>
        </p:txBody>
      </p:sp>
      <p:pic>
        <p:nvPicPr>
          <p:cNvPr id="12" name="Image 1" descr="Prueba de estrés">    </p:cNvPr>
          <p:cNvPicPr>
            <a:picLocks noChangeAspect="1"/>
          </p:cNvPicPr>
          <p:nvPr/>
        </p:nvPicPr>
        <p:blipFill>
          <a:blip r:embed="rId2"/>
          <a:stretch>
            <a:fillRect/>
          </a:stretch>
        </p:blipFill>
        <p:spPr>
          <a:xfrm>
            <a:off x="5138928" y="2103120"/>
            <a:ext cx="548640" cy="548640"/>
          </a:xfrm>
          <a:prstGeom prst="rect">
            <a:avLst/>
          </a:prstGeom>
        </p:spPr>
      </p:pic>
      <p:sp>
        <p:nvSpPr>
          <p:cNvPr id="13" name="Solution step 2 title"/>
          <p:cNvSpPr txBox="1"/>
          <p:nvPr/>
        </p:nvSpPr>
        <p:spPr>
          <a:xfrm>
            <a:off x="3630168" y="2834640"/>
            <a:ext cx="2103120" cy="731520"/>
          </a:xfrm>
          <a:prstGeom prst="rect">
            <a:avLst/>
          </a:prstGeom>
          <a:noFill/>
          <a:ln/>
        </p:spPr>
        <p:txBody>
          <a:bodyPr wrap="square" lIns="0" tIns="0" rIns="0" bIns="0" rtlCol="0" anchor="t"/>
          <a:lstStyle/>
          <a:p>
            <a:pPr indent="0" marL="0">
              <a:buNone/>
            </a:pPr>
            <a:r>
              <a:rPr lang="en-US" sz="2000" b="1" dirty="0">
                <a:solidFill>
                  <a:srgbClr val="141B34"/>
                </a:solidFill>
              </a:rPr>
              <a:t>Prueba de estrés</a:t>
            </a:r>
            <a:endParaRPr lang="en-US" sz="2000" dirty="0"/>
          </a:p>
        </p:txBody>
      </p:sp>
      <p:sp>
        <p:nvSpPr>
          <p:cNvPr id="14" name="Solution step 2 detail"/>
          <p:cNvSpPr txBox="1"/>
          <p:nvPr/>
        </p:nvSpPr>
        <p:spPr>
          <a:xfrm>
            <a:off x="3630168" y="3566160"/>
            <a:ext cx="2103120" cy="1371600"/>
          </a:xfrm>
          <a:prstGeom prst="rect">
            <a:avLst/>
          </a:prstGeom>
          <a:noFill/>
          <a:ln/>
        </p:spPr>
        <p:txBody>
          <a:bodyPr wrap="square" lIns="0" tIns="0" rIns="0" bIns="0" rtlCol="0" anchor="t"/>
          <a:lstStyle/>
          <a:p>
            <a:pPr indent="0" marL="0">
              <a:buNone/>
            </a:pPr>
            <a:r>
              <a:rPr lang="en-US" sz="1400" dirty="0">
                <a:solidFill>
                  <a:srgbClr val="4F5568"/>
                </a:solidFill>
              </a:rPr>
              <a:t>La IA resuelve la tarea sola: el docente ve cuánta nota saca antes y después.</a:t>
            </a:r>
            <a:endParaRPr lang="en-US" sz="1400" dirty="0"/>
          </a:p>
        </p:txBody>
      </p:sp>
      <p:sp>
        <p:nvSpPr>
          <p:cNvPr id="15" name="Solution step 3 card"/>
          <p:cNvSpPr/>
          <p:nvPr/>
        </p:nvSpPr>
        <p:spPr>
          <a:xfrm>
            <a:off x="6163056" y="1783080"/>
            <a:ext cx="2606040" cy="3246120"/>
          </a:xfrm>
          <a:prstGeom prst="roundRect">
            <a:avLst>
              <a:gd name="adj" fmla="val 4211"/>
            </a:avLst>
          </a:prstGeom>
          <a:solidFill>
            <a:srgbClr val="F3F4F8"/>
          </a:solidFill>
          <a:ln w="12700">
            <a:solidFill>
              <a:srgbClr val="F3F4F8"/>
            </a:solidFill>
            <a:prstDash val="solid"/>
          </a:ln>
        </p:spPr>
      </p:sp>
      <p:sp>
        <p:nvSpPr>
          <p:cNvPr id="16" name="Solution step 3 number"/>
          <p:cNvSpPr txBox="1"/>
          <p:nvPr/>
        </p:nvSpPr>
        <p:spPr>
          <a:xfrm>
            <a:off x="6437376" y="1965960"/>
            <a:ext cx="731520" cy="731520"/>
          </a:xfrm>
          <a:prstGeom prst="rect">
            <a:avLst/>
          </a:prstGeom>
          <a:noFill/>
          <a:ln/>
        </p:spPr>
        <p:txBody>
          <a:bodyPr wrap="square" lIns="0" tIns="0" rIns="0" bIns="0" rtlCol="0" anchor="ctr"/>
          <a:lstStyle/>
          <a:p>
            <a:pPr indent="0" marL="0">
              <a:buNone/>
            </a:pPr>
            <a:r>
              <a:rPr lang="en-US" sz="4000" b="1" dirty="0">
                <a:solidFill>
                  <a:srgbClr val="2340B8"/>
                </a:solidFill>
              </a:rPr>
              <a:t>3</a:t>
            </a:r>
            <a:endParaRPr lang="en-US" sz="4000" dirty="0"/>
          </a:p>
        </p:txBody>
      </p:sp>
      <p:pic>
        <p:nvPicPr>
          <p:cNvPr id="17" name="Image 2" descr="Entrega y defiende">    </p:cNvPr>
          <p:cNvPicPr>
            <a:picLocks noChangeAspect="1"/>
          </p:cNvPicPr>
          <p:nvPr/>
        </p:nvPicPr>
        <p:blipFill>
          <a:blip r:embed="rId3"/>
          <a:stretch>
            <a:fillRect/>
          </a:stretch>
        </p:blipFill>
        <p:spPr>
          <a:xfrm>
            <a:off x="7946136" y="2103120"/>
            <a:ext cx="548640" cy="548640"/>
          </a:xfrm>
          <a:prstGeom prst="rect">
            <a:avLst/>
          </a:prstGeom>
        </p:spPr>
      </p:pic>
      <p:sp>
        <p:nvSpPr>
          <p:cNvPr id="18" name="Solution step 3 title"/>
          <p:cNvSpPr txBox="1"/>
          <p:nvPr/>
        </p:nvSpPr>
        <p:spPr>
          <a:xfrm>
            <a:off x="6437376" y="2834640"/>
            <a:ext cx="2103120" cy="731520"/>
          </a:xfrm>
          <a:prstGeom prst="rect">
            <a:avLst/>
          </a:prstGeom>
          <a:noFill/>
          <a:ln/>
        </p:spPr>
        <p:txBody>
          <a:bodyPr wrap="square" lIns="0" tIns="0" rIns="0" bIns="0" rtlCol="0" anchor="t"/>
          <a:lstStyle/>
          <a:p>
            <a:pPr indent="0" marL="0">
              <a:buNone/>
            </a:pPr>
            <a:r>
              <a:rPr lang="en-US" sz="2000" b="1" dirty="0">
                <a:solidFill>
                  <a:srgbClr val="141B34"/>
                </a:solidFill>
              </a:rPr>
              <a:t>Entrega y defiende</a:t>
            </a:r>
            <a:endParaRPr lang="en-US" sz="2000" dirty="0"/>
          </a:p>
        </p:txBody>
      </p:sp>
      <p:sp>
        <p:nvSpPr>
          <p:cNvPr id="19" name="Solution step 3 detail"/>
          <p:cNvSpPr txBox="1"/>
          <p:nvPr/>
        </p:nvSpPr>
        <p:spPr>
          <a:xfrm>
            <a:off x="6437376" y="3566160"/>
            <a:ext cx="2103120" cy="1371600"/>
          </a:xfrm>
          <a:prstGeom prst="rect">
            <a:avLst/>
          </a:prstGeom>
          <a:noFill/>
          <a:ln/>
        </p:spPr>
        <p:txBody>
          <a:bodyPr wrap="square" lIns="0" tIns="0" rIns="0" bIns="0" rtlCol="0" anchor="t"/>
          <a:lstStyle/>
          <a:p>
            <a:pPr indent="0" marL="0">
              <a:buNone/>
            </a:pPr>
            <a:r>
              <a:rPr lang="en-US" sz="1400" dirty="0">
                <a:solidFill>
                  <a:srgbClr val="4F5568"/>
                </a:solidFill>
              </a:rPr>
              <a:t>Preguntas sobre su propio trabajo. En el celular, en papel o en voz alta.</a:t>
            </a:r>
            <a:endParaRPr lang="en-US" sz="1400" dirty="0"/>
          </a:p>
        </p:txBody>
      </p:sp>
      <p:sp>
        <p:nvSpPr>
          <p:cNvPr id="20" name="Solution step 4 card"/>
          <p:cNvSpPr/>
          <p:nvPr/>
        </p:nvSpPr>
        <p:spPr>
          <a:xfrm>
            <a:off x="8970264" y="1783080"/>
            <a:ext cx="2606040" cy="3246120"/>
          </a:xfrm>
          <a:prstGeom prst="roundRect">
            <a:avLst>
              <a:gd name="adj" fmla="val 4211"/>
            </a:avLst>
          </a:prstGeom>
          <a:solidFill>
            <a:srgbClr val="E7ECFB"/>
          </a:solidFill>
          <a:ln w="12700">
            <a:solidFill>
              <a:srgbClr val="E7ECFB"/>
            </a:solidFill>
            <a:prstDash val="solid"/>
          </a:ln>
        </p:spPr>
      </p:sp>
      <p:sp>
        <p:nvSpPr>
          <p:cNvPr id="21" name="Solution step 4 number"/>
          <p:cNvSpPr txBox="1"/>
          <p:nvPr/>
        </p:nvSpPr>
        <p:spPr>
          <a:xfrm>
            <a:off x="9244584" y="1965960"/>
            <a:ext cx="731520" cy="731520"/>
          </a:xfrm>
          <a:prstGeom prst="rect">
            <a:avLst/>
          </a:prstGeom>
          <a:noFill/>
          <a:ln/>
        </p:spPr>
        <p:txBody>
          <a:bodyPr wrap="square" lIns="0" tIns="0" rIns="0" bIns="0" rtlCol="0" anchor="ctr"/>
          <a:lstStyle/>
          <a:p>
            <a:pPr indent="0" marL="0">
              <a:buNone/>
            </a:pPr>
            <a:r>
              <a:rPr lang="en-US" sz="4000" b="1" dirty="0">
                <a:solidFill>
                  <a:srgbClr val="2340B8"/>
                </a:solidFill>
              </a:rPr>
              <a:t>4</a:t>
            </a:r>
            <a:endParaRPr lang="en-US" sz="4000" dirty="0"/>
          </a:p>
        </p:txBody>
      </p:sp>
      <p:pic>
        <p:nvPicPr>
          <p:cNvPr id="22" name="Image 3" descr="El docente decide">    </p:cNvPr>
          <p:cNvPicPr>
            <a:picLocks noChangeAspect="1"/>
          </p:cNvPicPr>
          <p:nvPr/>
        </p:nvPicPr>
        <p:blipFill>
          <a:blip r:embed="rId4"/>
          <a:stretch>
            <a:fillRect/>
          </a:stretch>
        </p:blipFill>
        <p:spPr>
          <a:xfrm>
            <a:off x="10753344" y="2103120"/>
            <a:ext cx="548640" cy="548640"/>
          </a:xfrm>
          <a:prstGeom prst="rect">
            <a:avLst/>
          </a:prstGeom>
        </p:spPr>
      </p:pic>
      <p:sp>
        <p:nvSpPr>
          <p:cNvPr id="23" name="Solution step 4 title"/>
          <p:cNvSpPr txBox="1"/>
          <p:nvPr/>
        </p:nvSpPr>
        <p:spPr>
          <a:xfrm>
            <a:off x="9244584" y="2834640"/>
            <a:ext cx="2103120" cy="731520"/>
          </a:xfrm>
          <a:prstGeom prst="rect">
            <a:avLst/>
          </a:prstGeom>
          <a:noFill/>
          <a:ln/>
        </p:spPr>
        <p:txBody>
          <a:bodyPr wrap="square" lIns="0" tIns="0" rIns="0" bIns="0" rtlCol="0" anchor="t"/>
          <a:lstStyle/>
          <a:p>
            <a:pPr indent="0" marL="0">
              <a:buNone/>
            </a:pPr>
            <a:r>
              <a:rPr lang="en-US" sz="2000" b="1" dirty="0">
                <a:solidFill>
                  <a:srgbClr val="141B34"/>
                </a:solidFill>
              </a:rPr>
              <a:t>El docente decide</a:t>
            </a:r>
            <a:endParaRPr lang="en-US" sz="2000" dirty="0"/>
          </a:p>
        </p:txBody>
      </p:sp>
      <p:sp>
        <p:nvSpPr>
          <p:cNvPr id="24" name="Solution step 4 detail"/>
          <p:cNvSpPr txBox="1"/>
          <p:nvPr/>
        </p:nvSpPr>
        <p:spPr>
          <a:xfrm>
            <a:off x="9244584" y="3566160"/>
            <a:ext cx="2103120" cy="1371600"/>
          </a:xfrm>
          <a:prstGeom prst="rect">
            <a:avLst/>
          </a:prstGeom>
          <a:noFill/>
          <a:ln/>
        </p:spPr>
        <p:txBody>
          <a:bodyPr wrap="square" lIns="0" tIns="0" rIns="0" bIns="0" rtlCol="0" anchor="t"/>
          <a:lstStyle/>
          <a:p>
            <a:pPr indent="0" marL="0">
              <a:buNone/>
            </a:pPr>
            <a:r>
              <a:rPr lang="en-US" sz="1400" dirty="0">
                <a:solidFill>
                  <a:srgbClr val="4F5568"/>
                </a:solidFill>
              </a:rPr>
              <a:t>Nivel sugerido con evidencia por criterio, a quién atender primero y qué volver a enseñar.</a:t>
            </a:r>
            <a:endParaRPr lang="en-US" sz="1400" dirty="0"/>
          </a:p>
        </p:txBody>
      </p:sp>
      <p:sp>
        <p:nvSpPr>
          <p:cNvPr id="25" name="Privacy line"/>
          <p:cNvSpPr txBox="1"/>
          <p:nvPr/>
        </p:nvSpPr>
        <p:spPr>
          <a:xfrm>
            <a:off x="548640" y="5349240"/>
            <a:ext cx="11094415" cy="457200"/>
          </a:xfrm>
          <a:prstGeom prst="rect">
            <a:avLst/>
          </a:prstGeom>
          <a:noFill/>
          <a:ln/>
        </p:spPr>
        <p:txBody>
          <a:bodyPr wrap="square" lIns="0" tIns="0" rIns="0" bIns="0" rtlCol="0" anchor="ctr"/>
          <a:lstStyle/>
          <a:p>
            <a:pPr indent="0" marL="0">
              <a:buNone/>
            </a:pPr>
            <a:r>
              <a:rPr lang="en-US" sz="1700" dirty="0">
                <a:solidFill>
                  <a:srgbClr val="141B34"/>
                </a:solidFill>
              </a:rPr>
              <a:t>Sin datos personales: alias y código, sin audio ni video.</a:t>
            </a:r>
            <a:endParaRPr lang="en-US" sz="1700" dirty="0"/>
          </a:p>
        </p:txBody>
      </p:sp>
      <p:sp>
        <p:nvSpPr>
          <p:cNvPr id="25" name="Slide Number Placeholder 0"/>
          <p:cNvSpPr>
            <a:spLocks noGrp="1"/>
          </p:cNvSpPr>
          <p:nvPr>
            <p:ph type="sldNum" sz="quarter" idx="4294967295"/>
          </p:nvPr>
        </p:nvSpPr>
        <p:spPr>
          <a:xfrm>
            <a:off x="11277295" y="6355080"/>
            <a:ext cx="4114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4F556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300" b="1" spc="200" kern="0" dirty="0">
                <a:solidFill>
                  <a:schemeClr val="accent1"/>
                </a:solidFill>
              </a:rPr>
              <a:t>QUÉ · POR QUÉ ES DIFERENTE</a:t>
            </a:r>
            <a:endParaRPr lang="en-US" sz="1300" dirty="0"/>
          </a:p>
        </p:txBody>
      </p:sp>
      <p:sp>
        <p:nvSpPr>
          <p:cNvPr id="3" name="Text 0"/>
          <p:cNvSpPr/>
          <p:nvPr>
            <p:ph idx="101" type="title" hasCustomPrompt="1"/>
          </p:nvPr>
        </p:nvSpPr>
        <p:spPr>
          <a:xfrm>
            <a:off x="548640" y="685800"/>
            <a:ext cx="11094415" cy="777240"/>
          </a:xfrm>
          <a:prstGeom prst="rect">
            <a:avLst/>
          </a:prstGeom>
          <a:noFill/>
          <a:ln/>
        </p:spPr>
        <p:txBody>
          <a:bodyPr wrap="square" lIns="0" tIns="0" rIns="0" bIns="0" rtlCol="0" anchor="t"/>
          <a:lstStyle/>
          <a:p>
            <a:pPr algn="l" indent="0" marL="0">
              <a:buNone/>
            </a:pPr>
            <a:r>
              <a:rPr lang="en-US" sz="3400" b="1" dirty="0">
                <a:solidFill>
                  <a:schemeClr val="tx1"/>
                </a:solidFill>
              </a:rPr>
              <a:t>Nadie más combina rediseño, prueba y defensa</a:t>
            </a:r>
            <a:endParaRPr lang="en-US" sz="3400" dirty="0"/>
          </a:p>
        </p:txBody>
      </p:sp>
      <p:sp>
        <p:nvSpPr>
          <p:cNvPr id="4" name="Text 0"/>
          <p:cNvSpPr/>
          <p:nvPr>
            <p:ph idx="102" type="body" hasCustomPrompt="1"/>
          </p:nvPr>
        </p:nvSpPr>
        <p:spPr>
          <a:xfrm>
            <a:off x="548640" y="6355080"/>
            <a:ext cx="10180015" cy="320040"/>
          </a:xfrm>
          <a:prstGeom prst="rect">
            <a:avLst/>
          </a:prstGeom>
          <a:noFill/>
          <a:ln/>
        </p:spPr>
        <p:txBody>
          <a:bodyPr wrap="square" lIns="0" tIns="0" rIns="0" bIns="0" rtlCol="0"/>
          <a:lstStyle/>
          <a:p>
            <a:pPr indent="0" marL="0">
              <a:buNone/>
            </a:pPr>
            <a:r>
              <a:rPr lang="en-US" sz="1000" dirty="0">
                <a:solidFill>
                  <a:schemeClr val="accent4"/>
                </a:solidFill>
              </a:rPr>
              <a:t>Fuentes: revisión de alternativas en docs/investigacion/mas-valor-para-defiendelo.md</a:t>
            </a:r>
            <a:endParaRPr lang="en-US" sz="1000" dirty="0"/>
          </a:p>
        </p:txBody>
      </p:sp>
      <p:graphicFrame>
        <p:nvGraphicFramePr>
          <p:cNvPr id="8" name="Comparison table"/>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3291840"/>
                <a:gridCol w="1856232"/>
                <a:gridCol w="1856232"/>
                <a:gridCol w="1856232"/>
                <a:gridCol w="1865376"/>
              </a:tblGrid>
              <a:tr h="566928">
                <a:tc>
                  <a:txBody>
                    <a:bodyPr/>
                    <a:lstStyle/>
                    <a:p>
                      <a:pPr algn="ctr" indent="0" marL="0">
                        <a:buNone/>
                      </a:pPr>
                      <a:endParaRPr lang="en-US" sz="1500" dirty="0">
                        <a:latin typeface="Calibri" charset="0"/>
                        <a:ea typeface="Calibri" charset="0"/>
                        <a:cs typeface="Calibri" charset="0"/>
                      </a:endParaRPr>
                    </a:p>
                  </a:txBody>
                  <a:tcPr marL="91440" marR="91440" marT="45720" marB="45720" anchor="ctr">
                    <a:lnL w="12700" cap="flat" cmpd="sng" algn="ctr">
                      <a:solidFill>
                        <a:srgbClr val="D9DCE5"/>
                      </a:solidFill>
                      <a:prstDash val="solid"/>
                      <a:round/>
                      <a:headEnd type="none" w="med" len="med"/>
                      <a:tailEnd type="none" w="med" len="med"/>
                    </a:lnL>
                    <a:lnR w="12700" cap="flat" cmpd="sng" algn="ctr">
                      <a:solidFill>
                        <a:srgbClr val="D9DCE5"/>
                      </a:solidFill>
                      <a:prstDash val="solid"/>
                      <a:round/>
                      <a:headEnd type="none" w="med" len="med"/>
                      <a:tailEnd type="none" w="med" len="med"/>
                    </a:lnR>
                    <a:lnT w="12700" cap="flat" cmpd="sng" algn="ctr">
                      <a:solidFill>
                        <a:srgbClr val="D9DCE5"/>
                      </a:solidFill>
                      <a:prstDash val="solid"/>
                      <a:round/>
                      <a:headEnd type="none" w="med" len="med"/>
                      <a:tailEnd type="none" w="med" len="med"/>
                    </a:lnT>
                    <a:lnB w="12700" cap="flat" cmpd="sng" algn="ctr">
                      <a:solidFill>
                        <a:srgbClr val="D9DCE5"/>
                      </a:solidFill>
                      <a:prstDash val="solid"/>
                      <a:round/>
                      <a:headEnd type="none" w="med" len="med"/>
                      <a:tailEnd type="none" w="med" len="med"/>
                    </a:lnB>
                    <a:solidFill>
                      <a:srgbClr val="1B2F8F"/>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Mide comprensión</a:t>
                      </a:r>
                      <a:endParaRPr lang="en-US" sz="1500" dirty="0">
                        <a:latin typeface="Calibri" charset="0"/>
                        <a:ea typeface="Calibri" charset="0"/>
                        <a:cs typeface="Calibri" charset="0"/>
                      </a:endParaRPr>
                    </a:p>
                  </a:txBody>
                  <a:tcPr marL="91440" marR="91440" marT="45720" marB="45720" anchor="ctr">
                    <a:lnL w="12700" cap="flat" cmpd="sng" algn="ctr">
                      <a:solidFill>
                        <a:srgbClr val="D9DCE5"/>
                      </a:solidFill>
                      <a:prstDash val="solid"/>
                      <a:round/>
                      <a:headEnd type="none" w="med" len="med"/>
                      <a:tailEnd type="none" w="med" len="med"/>
                    </a:lnL>
                    <a:lnR w="12700" cap="flat" cmpd="sng" algn="ctr">
                      <a:solidFill>
                        <a:srgbClr val="D9DCE5"/>
                      </a:solidFill>
                      <a:prstDash val="solid"/>
                      <a:round/>
                      <a:headEnd type="none" w="med" len="med"/>
                      <a:tailEnd type="none" w="med" len="med"/>
                    </a:lnR>
                    <a:lnT w="12700" cap="flat" cmpd="sng" algn="ctr">
                      <a:solidFill>
                        <a:srgbClr val="D9DCE5"/>
                      </a:solidFill>
                      <a:prstDash val="solid"/>
                      <a:round/>
                      <a:headEnd type="none" w="med" len="med"/>
                      <a:tailEnd type="none" w="med" len="med"/>
                    </a:lnT>
                    <a:lnB w="12700" cap="flat" cmpd="sng" algn="ctr">
                      <a:solidFill>
                        <a:srgbClr val="D9DCE5"/>
                      </a:solidFill>
                      <a:prstDash val="solid"/>
                      <a:round/>
                      <a:headEnd type="none" w="med" len="med"/>
                      <a:tailEnd type="none" w="med" len="med"/>
                    </a:lnB>
                    <a:solidFill>
                      <a:srgbClr val="1B2F8F"/>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Prueba la tarea contra la IA</a:t>
                      </a:r>
                      <a:endParaRPr lang="en-US" sz="1500" dirty="0">
                        <a:latin typeface="Calibri" charset="0"/>
                        <a:ea typeface="Calibri" charset="0"/>
                        <a:cs typeface="Calibri" charset="0"/>
                      </a:endParaRPr>
                    </a:p>
                  </a:txBody>
                  <a:tcPr marL="91440" marR="91440" marT="45720" marB="45720" anchor="ctr">
                    <a:lnL w="12700" cap="flat" cmpd="sng" algn="ctr">
                      <a:solidFill>
                        <a:srgbClr val="D9DCE5"/>
                      </a:solidFill>
                      <a:prstDash val="solid"/>
                      <a:round/>
                      <a:headEnd type="none" w="med" len="med"/>
                      <a:tailEnd type="none" w="med" len="med"/>
                    </a:lnL>
                    <a:lnR w="12700" cap="flat" cmpd="sng" algn="ctr">
                      <a:solidFill>
                        <a:srgbClr val="D9DCE5"/>
                      </a:solidFill>
                      <a:prstDash val="solid"/>
                      <a:round/>
                      <a:headEnd type="none" w="med" len="med"/>
                      <a:tailEnd type="none" w="med" len="med"/>
                    </a:lnR>
                    <a:lnT w="12700" cap="flat" cmpd="sng" algn="ctr">
                      <a:solidFill>
                        <a:srgbClr val="D9DCE5"/>
                      </a:solidFill>
                      <a:prstDash val="solid"/>
                      <a:round/>
                      <a:headEnd type="none" w="med" len="med"/>
                      <a:tailEnd type="none" w="med" len="med"/>
                    </a:lnT>
                    <a:lnB w="12700" cap="flat" cmpd="sng" algn="ctr">
                      <a:solidFill>
                        <a:srgbClr val="D9DCE5"/>
                      </a:solidFill>
                      <a:prstDash val="solid"/>
                      <a:round/>
                      <a:headEnd type="none" w="med" len="med"/>
                      <a:tailEnd type="none" w="med" len="med"/>
                    </a:lnB>
                    <a:solidFill>
                      <a:srgbClr val="1B2F8F"/>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Sin voz ni un dispositivo por alumno</a:t>
                      </a:r>
                      <a:endParaRPr lang="en-US" sz="1500" dirty="0">
                        <a:latin typeface="Calibri" charset="0"/>
                        <a:ea typeface="Calibri" charset="0"/>
                        <a:cs typeface="Calibri" charset="0"/>
                      </a:endParaRPr>
                    </a:p>
                  </a:txBody>
                  <a:tcPr marL="91440" marR="91440" marT="45720" marB="45720" anchor="ctr">
                    <a:lnL w="12700" cap="flat" cmpd="sng" algn="ctr">
                      <a:solidFill>
                        <a:srgbClr val="D9DCE5"/>
                      </a:solidFill>
                      <a:prstDash val="solid"/>
                      <a:round/>
                      <a:headEnd type="none" w="med" len="med"/>
                      <a:tailEnd type="none" w="med" len="med"/>
                    </a:lnL>
                    <a:lnR w="12700" cap="flat" cmpd="sng" algn="ctr">
                      <a:solidFill>
                        <a:srgbClr val="D9DCE5"/>
                      </a:solidFill>
                      <a:prstDash val="solid"/>
                      <a:round/>
                      <a:headEnd type="none" w="med" len="med"/>
                      <a:tailEnd type="none" w="med" len="med"/>
                    </a:lnR>
                    <a:lnT w="12700" cap="flat" cmpd="sng" algn="ctr">
                      <a:solidFill>
                        <a:srgbClr val="D9DCE5"/>
                      </a:solidFill>
                      <a:prstDash val="solid"/>
                      <a:round/>
                      <a:headEnd type="none" w="med" len="med"/>
                      <a:tailEnd type="none" w="med" len="med"/>
                    </a:lnT>
                    <a:lnB w="12700" cap="flat" cmpd="sng" algn="ctr">
                      <a:solidFill>
                        <a:srgbClr val="D9DCE5"/>
                      </a:solidFill>
                      <a:prstDash val="solid"/>
                      <a:round/>
                      <a:headEnd type="none" w="med" len="med"/>
                      <a:tailEnd type="none" w="med" len="med"/>
                    </a:lnB>
                    <a:solidFill>
                      <a:srgbClr val="1B2F8F"/>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Le llega al docente</a:t>
                      </a:r>
                      <a:endParaRPr lang="en-US" sz="1500" dirty="0">
                        <a:latin typeface="Calibri" charset="0"/>
                        <a:ea typeface="Calibri" charset="0"/>
                        <a:cs typeface="Calibri" charset="0"/>
                      </a:endParaRPr>
                    </a:p>
                  </a:txBody>
                  <a:tcPr marL="91440" marR="91440" marT="45720" marB="45720" anchor="ctr">
                    <a:lnL w="12700" cap="flat" cmpd="sng" algn="ctr">
                      <a:solidFill>
                        <a:srgbClr val="D9DCE5"/>
                      </a:solidFill>
                      <a:prstDash val="solid"/>
                      <a:round/>
                      <a:headEnd type="none" w="med" len="med"/>
                      <a:tailEnd type="none" w="med" len="med"/>
                    </a:lnL>
                    <a:lnR w="12700" cap="flat" cmpd="sng" algn="ctr">
                      <a:solidFill>
                        <a:srgbClr val="D9DCE5"/>
                      </a:solidFill>
                      <a:prstDash val="solid"/>
                      <a:round/>
                      <a:headEnd type="none" w="med" len="med"/>
                      <a:tailEnd type="none" w="med" len="med"/>
                    </a:lnR>
                    <a:lnT w="12700" cap="flat" cmpd="sng" algn="ctr">
                      <a:solidFill>
                        <a:srgbClr val="D9DCE5"/>
                      </a:solidFill>
                      <a:prstDash val="solid"/>
                      <a:round/>
                      <a:headEnd type="none" w="med" len="med"/>
                      <a:tailEnd type="none" w="med" len="med"/>
                    </a:lnT>
                    <a:lnB w="12700" cap="flat" cmpd="sng" algn="ctr">
                      <a:solidFill>
                        <a:srgbClr val="D9DCE5"/>
                      </a:solidFill>
                      <a:prstDash val="solid"/>
                      <a:round/>
                      <a:headEnd type="none" w="med" len="med"/>
                      <a:tailEnd type="none" w="med" len="med"/>
                    </a:lnB>
                    <a:solidFill>
                      <a:srgbClr val="1B2F8F"/>
                    </a:solidFill>
                  </a:tcPr>
                </a:tc>
              </a:tr>
              <a:tr h="566928">
                <a:tc>
                  <a:txBody>
                    <a:bodyPr/>
                    <a:lstStyle/>
                    <a:p>
                      <a:pPr indent="0" marL="0">
                        <a:buNone/>
                      </a:pPr>
                      <a:r>
                        <a:rPr lang="en-US" sz="1500" b="1" dirty="0">
                          <a:solidFill>
                            <a:srgbClr val="141B34"/>
                          </a:solidFill>
                          <a:latin typeface="Calibri" pitchFamily="34" charset="0"/>
                          <a:ea typeface="Calibri" pitchFamily="34" charset="-122"/>
                          <a:cs typeface="Calibri" pitchFamily="34" charset="-120"/>
                        </a:rPr>
                        <a:t>Detectores (GPTZero, Turnitin)</a:t>
                      </a:r>
                      <a:endParaRPr lang="en-US" sz="1500" dirty="0">
                        <a:latin typeface="Calibri" charset="0"/>
                        <a:ea typeface="Calibri" charset="0"/>
                        <a:cs typeface="Calibri" charset="0"/>
                      </a:endParaRPr>
                    </a:p>
                  </a:txBody>
                  <a:tcPr marL="91440" marR="91440" marT="45720" marB="45720" anchor="ctr">
                    <a:lnL w="12700" cap="flat" cmpd="sng" algn="ctr">
                      <a:solidFill>
                        <a:srgbClr val="D9DCE5"/>
                      </a:solidFill>
                      <a:prstDash val="solid"/>
                      <a:round/>
                      <a:headEnd type="none" w="med" len="med"/>
                      <a:tailEnd type="none" w="med" len="med"/>
                    </a:lnL>
                    <a:lnR w="12700" cap="flat" cmpd="sng" algn="ctr">
                      <a:solidFill>
                        <a:srgbClr val="D9DCE5"/>
                      </a:solidFill>
                      <a:prstDash val="solid"/>
                      <a:round/>
                      <a:headEnd type="none" w="med" len="med"/>
                      <a:tailEnd type="none" w="med" len="med"/>
                    </a:lnR>
                    <a:lnT w="12700" cap="flat" cmpd="sng" algn="ctr">
                      <a:solidFill>
                        <a:srgbClr val="D9DCE5"/>
                      </a:solidFill>
                      <a:prstDash val="solid"/>
                      <a:round/>
                      <a:headEnd type="none" w="med" len="med"/>
                      <a:tailEnd type="none" w="med" len="med"/>
                    </a:lnT>
                    <a:lnB w="12700" cap="flat" cmpd="sng" algn="ctr">
                      <a:solidFill>
                        <a:srgbClr val="D9DCE5"/>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4F5568"/>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12700" cap="flat" cmpd="sng" algn="ctr">
                      <a:solidFill>
                        <a:srgbClr val="D9DCE5"/>
                      </a:solidFill>
                      <a:prstDash val="solid"/>
                      <a:round/>
                      <a:headEnd type="none" w="med" len="med"/>
                      <a:tailEnd type="none" w="med" len="med"/>
                    </a:lnL>
                    <a:lnR w="12700" cap="flat" cmpd="sng" algn="ctr">
                      <a:solidFill>
                        <a:srgbClr val="D9DCE5"/>
                      </a:solidFill>
                      <a:prstDash val="solid"/>
                      <a:round/>
                      <a:headEnd type="none" w="med" len="med"/>
                      <a:tailEnd type="none" w="med" len="med"/>
                    </a:lnR>
                    <a:lnT w="12700" cap="flat" cmpd="sng" algn="ctr">
                      <a:solidFill>
                        <a:srgbClr val="D9DCE5"/>
                      </a:solidFill>
                      <a:prstDash val="solid"/>
                      <a:round/>
                      <a:headEnd type="none" w="med" len="med"/>
                      <a:tailEnd type="none" w="med" len="med"/>
                    </a:lnT>
                    <a:lnB w="12700" cap="flat" cmpd="sng" algn="ctr">
                      <a:solidFill>
                        <a:srgbClr val="D9DCE5"/>
                      </a:solidFill>
                      <a:prstDash val="solid"/>
                      <a:round/>
                      <a:headEnd type="none" w="med" len="med"/>
                      <a:tailEnd type="none" w="med" len="med"/>
                    </a:lnB>
                  </a:tcPr>
                </a:tc>
                <a:tc>
                  <a:txBody>
                    <a:bodyPr/>
                    <a:lstStyle/>
                    <a:p>
                      <a:pPr algn="ctr" indent="0" marL="0">
                        <a:buNone/>
                      </a:pPr>
                      <a:r>
                        <a:rPr lang="en-US" sz="1500" dirty="0">
                          <a:solidFill>
                            <a:srgbClr val="4F5568"/>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12700" cap="flat" cmpd="sng" algn="ctr">
                      <a:solidFill>
                        <a:srgbClr val="D9DCE5"/>
                      </a:solidFill>
                      <a:prstDash val="solid"/>
                      <a:round/>
                      <a:headEnd type="none" w="med" len="med"/>
                      <a:tailEnd type="none" w="med" len="med"/>
                    </a:lnL>
                    <a:lnR w="12700" cap="flat" cmpd="sng" algn="ctr">
                      <a:solidFill>
                        <a:srgbClr val="D9DCE5"/>
                      </a:solidFill>
                      <a:prstDash val="solid"/>
                      <a:round/>
                      <a:headEnd type="none" w="med" len="med"/>
                      <a:tailEnd type="none" w="med" len="med"/>
                    </a:lnR>
                    <a:lnT w="12700" cap="flat" cmpd="sng" algn="ctr">
                      <a:solidFill>
                        <a:srgbClr val="D9DCE5"/>
                      </a:solidFill>
                      <a:prstDash val="solid"/>
                      <a:round/>
                      <a:headEnd type="none" w="med" len="med"/>
                      <a:tailEnd type="none" w="med" len="med"/>
                    </a:lnT>
                    <a:lnB w="12700" cap="flat" cmpd="sng" algn="ctr">
                      <a:solidFill>
                        <a:srgbClr val="D9DCE5"/>
                      </a:solidFill>
                      <a:prstDash val="solid"/>
                      <a:round/>
                      <a:headEnd type="none" w="med" len="med"/>
                      <a:tailEnd type="none" w="med" len="med"/>
                    </a:lnB>
                  </a:tcPr>
                </a:tc>
                <a:tc>
                  <a:txBody>
                    <a:bodyPr/>
                    <a:lstStyle/>
                    <a:p>
                      <a:pPr algn="ctr" indent="0" marL="0">
                        <a:buNone/>
                      </a:pPr>
                      <a:r>
                        <a:rPr lang="en-US" sz="1500" b="1" dirty="0">
                          <a:solidFill>
                            <a:srgbClr val="2340B8"/>
                          </a:solidFill>
                          <a:latin typeface="Calibri" pitchFamily="34" charset="0"/>
                          <a:ea typeface="Calibri" pitchFamily="34" charset="-122"/>
                          <a:cs typeface="Calibri" pitchFamily="34" charset="-120"/>
                        </a:rPr>
                        <a:t>Sí</a:t>
                      </a:r>
                      <a:endParaRPr lang="en-US" sz="1500" dirty="0">
                        <a:latin typeface="Calibri" charset="0"/>
                        <a:ea typeface="Calibri" charset="0"/>
                        <a:cs typeface="Calibri" charset="0"/>
                      </a:endParaRPr>
                    </a:p>
                  </a:txBody>
                  <a:tcPr marL="91440" marR="91440" marT="45720" marB="45720" anchor="ctr">
                    <a:lnL w="12700" cap="flat" cmpd="sng" algn="ctr">
                      <a:solidFill>
                        <a:srgbClr val="D9DCE5"/>
                      </a:solidFill>
                      <a:prstDash val="solid"/>
                      <a:round/>
                      <a:headEnd type="none" w="med" len="med"/>
                      <a:tailEnd type="none" w="med" len="med"/>
                    </a:lnL>
                    <a:lnR w="12700" cap="flat" cmpd="sng" algn="ctr">
                      <a:solidFill>
                        <a:srgbClr val="D9DCE5"/>
                      </a:solidFill>
                      <a:prstDash val="solid"/>
                      <a:round/>
                      <a:headEnd type="none" w="med" len="med"/>
                      <a:tailEnd type="none" w="med" len="med"/>
                    </a:lnR>
                    <a:lnT w="12700" cap="flat" cmpd="sng" algn="ctr">
                      <a:solidFill>
                        <a:srgbClr val="D9DCE5"/>
                      </a:solidFill>
                      <a:prstDash val="solid"/>
                      <a:round/>
                      <a:headEnd type="none" w="med" len="med"/>
                      <a:tailEnd type="none" w="med" len="med"/>
                    </a:lnT>
                    <a:lnB w="12700" cap="flat" cmpd="sng" algn="ctr">
                      <a:solidFill>
                        <a:srgbClr val="D9DCE5"/>
                      </a:solidFill>
                      <a:prstDash val="solid"/>
                      <a:round/>
                      <a:headEnd type="none" w="med" len="med"/>
                      <a:tailEnd type="none" w="med" len="med"/>
                    </a:lnB>
                  </a:tcPr>
                </a:tc>
                <a:tc>
                  <a:txBody>
                    <a:bodyPr/>
                    <a:lstStyle/>
                    <a:p>
                      <a:pPr algn="ctr" indent="0" marL="0">
                        <a:buNone/>
                      </a:pPr>
                      <a:r>
                        <a:rPr lang="en-US" sz="1500" b="1" dirty="0">
                          <a:solidFill>
                            <a:srgbClr val="2340B8"/>
                          </a:solidFill>
                          <a:latin typeface="Calibri" pitchFamily="34" charset="0"/>
                          <a:ea typeface="Calibri" pitchFamily="34" charset="-122"/>
                          <a:cs typeface="Calibri" pitchFamily="34" charset="-120"/>
                        </a:rPr>
                        <a:t>Sí</a:t>
                      </a:r>
                      <a:endParaRPr lang="en-US" sz="1500" dirty="0">
                        <a:latin typeface="Calibri" charset="0"/>
                        <a:ea typeface="Calibri" charset="0"/>
                        <a:cs typeface="Calibri" charset="0"/>
                      </a:endParaRPr>
                    </a:p>
                  </a:txBody>
                  <a:tcPr marL="91440" marR="91440" marT="45720" marB="45720" anchor="ctr">
                    <a:lnL w="12700" cap="flat" cmpd="sng" algn="ctr">
                      <a:solidFill>
                        <a:srgbClr val="D9DCE5"/>
                      </a:solidFill>
                      <a:prstDash val="solid"/>
                      <a:round/>
                      <a:headEnd type="none" w="med" len="med"/>
                      <a:tailEnd type="none" w="med" len="med"/>
                    </a:lnL>
                    <a:lnR w="12700" cap="flat" cmpd="sng" algn="ctr">
                      <a:solidFill>
                        <a:srgbClr val="D9DCE5"/>
                      </a:solidFill>
                      <a:prstDash val="solid"/>
                      <a:round/>
                      <a:headEnd type="none" w="med" len="med"/>
                      <a:tailEnd type="none" w="med" len="med"/>
                    </a:lnR>
                    <a:lnT w="12700" cap="flat" cmpd="sng" algn="ctr">
                      <a:solidFill>
                        <a:srgbClr val="D9DCE5"/>
                      </a:solidFill>
                      <a:prstDash val="solid"/>
                      <a:round/>
                      <a:headEnd type="none" w="med" len="med"/>
                      <a:tailEnd type="none" w="med" len="med"/>
                    </a:lnT>
                    <a:lnB w="12700" cap="flat" cmpd="sng" algn="ctr">
                      <a:solidFill>
                        <a:srgbClr val="D9DCE5"/>
                      </a:solidFill>
                      <a:prstDash val="solid"/>
                      <a:round/>
                      <a:headEnd type="none" w="med" len="med"/>
                      <a:tailEnd type="none" w="med" len="med"/>
                    </a:lnB>
                  </a:tcPr>
                </a:tc>
              </a:tr>
              <a:tr h="566928">
                <a:tc>
                  <a:txBody>
                    <a:bodyPr/>
                    <a:lstStyle/>
                    <a:p>
                      <a:pPr indent="0" marL="0">
                        <a:buNone/>
                      </a:pPr>
                      <a:r>
                        <a:rPr lang="en-US" sz="1500" b="1" dirty="0">
                          <a:solidFill>
                            <a:srgbClr val="141B34"/>
                          </a:solidFill>
                          <a:latin typeface="Calibri" pitchFamily="34" charset="0"/>
                          <a:ea typeface="Calibri" pitchFamily="34" charset="-122"/>
                          <a:cs typeface="Calibri" pitchFamily="34" charset="-120"/>
                        </a:rPr>
                        <a:t>Modos de estudio (ChatGPT, Google)</a:t>
                      </a:r>
                      <a:endParaRPr lang="en-US" sz="1500" dirty="0">
                        <a:latin typeface="Calibri" charset="0"/>
                        <a:ea typeface="Calibri" charset="0"/>
                        <a:cs typeface="Calibri" charset="0"/>
                      </a:endParaRPr>
                    </a:p>
                  </a:txBody>
                  <a:tcPr marL="91440" marR="91440" marT="45720" marB="45720" anchor="ctr">
                    <a:lnL w="12700" cap="flat" cmpd="sng" algn="ctr">
                      <a:solidFill>
                        <a:srgbClr val="D9DCE5"/>
                      </a:solidFill>
                      <a:prstDash val="solid"/>
                      <a:round/>
                      <a:headEnd type="none" w="med" len="med"/>
                      <a:tailEnd type="none" w="med" len="med"/>
                    </a:lnL>
                    <a:lnR w="12700" cap="flat" cmpd="sng" algn="ctr">
                      <a:solidFill>
                        <a:srgbClr val="D9DCE5"/>
                      </a:solidFill>
                      <a:prstDash val="solid"/>
                      <a:round/>
                      <a:headEnd type="none" w="med" len="med"/>
                      <a:tailEnd type="none" w="med" len="med"/>
                    </a:lnR>
                    <a:lnT w="12700" cap="flat" cmpd="sng" algn="ctr">
                      <a:solidFill>
                        <a:srgbClr val="D9DCE5"/>
                      </a:solidFill>
                      <a:prstDash val="solid"/>
                      <a:round/>
                      <a:headEnd type="none" w="med" len="med"/>
                      <a:tailEnd type="none" w="med" len="med"/>
                    </a:lnT>
                    <a:lnB w="12700" cap="flat" cmpd="sng" algn="ctr">
                      <a:solidFill>
                        <a:srgbClr val="D9DCE5"/>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4F5568"/>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12700" cap="flat" cmpd="sng" algn="ctr">
                      <a:solidFill>
                        <a:srgbClr val="D9DCE5"/>
                      </a:solidFill>
                      <a:prstDash val="solid"/>
                      <a:round/>
                      <a:headEnd type="none" w="med" len="med"/>
                      <a:tailEnd type="none" w="med" len="med"/>
                    </a:lnL>
                    <a:lnR w="12700" cap="flat" cmpd="sng" algn="ctr">
                      <a:solidFill>
                        <a:srgbClr val="D9DCE5"/>
                      </a:solidFill>
                      <a:prstDash val="solid"/>
                      <a:round/>
                      <a:headEnd type="none" w="med" len="med"/>
                      <a:tailEnd type="none" w="med" len="med"/>
                    </a:lnR>
                    <a:lnT w="12700" cap="flat" cmpd="sng" algn="ctr">
                      <a:solidFill>
                        <a:srgbClr val="D9DCE5"/>
                      </a:solidFill>
                      <a:prstDash val="solid"/>
                      <a:round/>
                      <a:headEnd type="none" w="med" len="med"/>
                      <a:tailEnd type="none" w="med" len="med"/>
                    </a:lnT>
                    <a:lnB w="12700" cap="flat" cmpd="sng" algn="ctr">
                      <a:solidFill>
                        <a:srgbClr val="D9DCE5"/>
                      </a:solidFill>
                      <a:prstDash val="solid"/>
                      <a:round/>
                      <a:headEnd type="none" w="med" len="med"/>
                      <a:tailEnd type="none" w="med" len="med"/>
                    </a:lnB>
                  </a:tcPr>
                </a:tc>
                <a:tc>
                  <a:txBody>
                    <a:bodyPr/>
                    <a:lstStyle/>
                    <a:p>
                      <a:pPr algn="ctr" indent="0" marL="0">
                        <a:buNone/>
                      </a:pPr>
                      <a:r>
                        <a:rPr lang="en-US" sz="1500" dirty="0">
                          <a:solidFill>
                            <a:srgbClr val="4F5568"/>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12700" cap="flat" cmpd="sng" algn="ctr">
                      <a:solidFill>
                        <a:srgbClr val="D9DCE5"/>
                      </a:solidFill>
                      <a:prstDash val="solid"/>
                      <a:round/>
                      <a:headEnd type="none" w="med" len="med"/>
                      <a:tailEnd type="none" w="med" len="med"/>
                    </a:lnL>
                    <a:lnR w="12700" cap="flat" cmpd="sng" algn="ctr">
                      <a:solidFill>
                        <a:srgbClr val="D9DCE5"/>
                      </a:solidFill>
                      <a:prstDash val="solid"/>
                      <a:round/>
                      <a:headEnd type="none" w="med" len="med"/>
                      <a:tailEnd type="none" w="med" len="med"/>
                    </a:lnR>
                    <a:lnT w="12700" cap="flat" cmpd="sng" algn="ctr">
                      <a:solidFill>
                        <a:srgbClr val="D9DCE5"/>
                      </a:solidFill>
                      <a:prstDash val="solid"/>
                      <a:round/>
                      <a:headEnd type="none" w="med" len="med"/>
                      <a:tailEnd type="none" w="med" len="med"/>
                    </a:lnT>
                    <a:lnB w="12700" cap="flat" cmpd="sng" algn="ctr">
                      <a:solidFill>
                        <a:srgbClr val="D9DCE5"/>
                      </a:solidFill>
                      <a:prstDash val="solid"/>
                      <a:round/>
                      <a:headEnd type="none" w="med" len="med"/>
                      <a:tailEnd type="none" w="med" len="med"/>
                    </a:lnB>
                  </a:tcPr>
                </a:tc>
                <a:tc>
                  <a:txBody>
                    <a:bodyPr/>
                    <a:lstStyle/>
                    <a:p>
                      <a:pPr algn="ctr" indent="0" marL="0">
                        <a:buNone/>
                      </a:pPr>
                      <a:r>
                        <a:rPr lang="en-US" sz="1500" dirty="0">
                          <a:solidFill>
                            <a:srgbClr val="4F5568"/>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12700" cap="flat" cmpd="sng" algn="ctr">
                      <a:solidFill>
                        <a:srgbClr val="D9DCE5"/>
                      </a:solidFill>
                      <a:prstDash val="solid"/>
                      <a:round/>
                      <a:headEnd type="none" w="med" len="med"/>
                      <a:tailEnd type="none" w="med" len="med"/>
                    </a:lnL>
                    <a:lnR w="12700" cap="flat" cmpd="sng" algn="ctr">
                      <a:solidFill>
                        <a:srgbClr val="D9DCE5"/>
                      </a:solidFill>
                      <a:prstDash val="solid"/>
                      <a:round/>
                      <a:headEnd type="none" w="med" len="med"/>
                      <a:tailEnd type="none" w="med" len="med"/>
                    </a:lnR>
                    <a:lnT w="12700" cap="flat" cmpd="sng" algn="ctr">
                      <a:solidFill>
                        <a:srgbClr val="D9DCE5"/>
                      </a:solidFill>
                      <a:prstDash val="solid"/>
                      <a:round/>
                      <a:headEnd type="none" w="med" len="med"/>
                      <a:tailEnd type="none" w="med" len="med"/>
                    </a:lnT>
                    <a:lnB w="12700" cap="flat" cmpd="sng" algn="ctr">
                      <a:solidFill>
                        <a:srgbClr val="D9DCE5"/>
                      </a:solidFill>
                      <a:prstDash val="solid"/>
                      <a:round/>
                      <a:headEnd type="none" w="med" len="med"/>
                      <a:tailEnd type="none" w="med" len="med"/>
                    </a:lnB>
                  </a:tcPr>
                </a:tc>
                <a:tc>
                  <a:txBody>
                    <a:bodyPr/>
                    <a:lstStyle/>
                    <a:p>
                      <a:pPr algn="ctr" indent="0" marL="0">
                        <a:buNone/>
                      </a:pPr>
                      <a:r>
                        <a:rPr lang="en-US" sz="1500" dirty="0">
                          <a:solidFill>
                            <a:srgbClr val="4F5568"/>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12700" cap="flat" cmpd="sng" algn="ctr">
                      <a:solidFill>
                        <a:srgbClr val="D9DCE5"/>
                      </a:solidFill>
                      <a:prstDash val="solid"/>
                      <a:round/>
                      <a:headEnd type="none" w="med" len="med"/>
                      <a:tailEnd type="none" w="med" len="med"/>
                    </a:lnL>
                    <a:lnR w="12700" cap="flat" cmpd="sng" algn="ctr">
                      <a:solidFill>
                        <a:srgbClr val="D9DCE5"/>
                      </a:solidFill>
                      <a:prstDash val="solid"/>
                      <a:round/>
                      <a:headEnd type="none" w="med" len="med"/>
                      <a:tailEnd type="none" w="med" len="med"/>
                    </a:lnR>
                    <a:lnT w="12700" cap="flat" cmpd="sng" algn="ctr">
                      <a:solidFill>
                        <a:srgbClr val="D9DCE5"/>
                      </a:solidFill>
                      <a:prstDash val="solid"/>
                      <a:round/>
                      <a:headEnd type="none" w="med" len="med"/>
                      <a:tailEnd type="none" w="med" len="med"/>
                    </a:lnT>
                    <a:lnB w="12700" cap="flat" cmpd="sng" algn="ctr">
                      <a:solidFill>
                        <a:srgbClr val="D9DCE5"/>
                      </a:solidFill>
                      <a:prstDash val="solid"/>
                      <a:round/>
                      <a:headEnd type="none" w="med" len="med"/>
                      <a:tailEnd type="none" w="med" len="med"/>
                    </a:lnB>
                  </a:tcPr>
                </a:tc>
              </a:tr>
              <a:tr h="566928">
                <a:tc>
                  <a:txBody>
                    <a:bodyPr/>
                    <a:lstStyle/>
                    <a:p>
                      <a:pPr indent="0" marL="0">
                        <a:buNone/>
                      </a:pPr>
                      <a:r>
                        <a:rPr lang="en-US" sz="1500" b="1" dirty="0">
                          <a:solidFill>
                            <a:srgbClr val="141B34"/>
                          </a:solidFill>
                          <a:latin typeface="Calibri" pitchFamily="34" charset="0"/>
                          <a:ea typeface="Calibri" pitchFamily="34" charset="-122"/>
                          <a:cs typeface="Calibri" pitchFamily="34" charset="-120"/>
                        </a:rPr>
                        <a:t>Asistentes gratuitos (Khanmigo)</a:t>
                      </a:r>
                      <a:endParaRPr lang="en-US" sz="1500" dirty="0">
                        <a:latin typeface="Calibri" charset="0"/>
                        <a:ea typeface="Calibri" charset="0"/>
                        <a:cs typeface="Calibri" charset="0"/>
                      </a:endParaRPr>
                    </a:p>
                  </a:txBody>
                  <a:tcPr marL="91440" marR="91440" marT="45720" marB="45720" anchor="ctr">
                    <a:lnL w="12700" cap="flat" cmpd="sng" algn="ctr">
                      <a:solidFill>
                        <a:srgbClr val="D9DCE5"/>
                      </a:solidFill>
                      <a:prstDash val="solid"/>
                      <a:round/>
                      <a:headEnd type="none" w="med" len="med"/>
                      <a:tailEnd type="none" w="med" len="med"/>
                    </a:lnL>
                    <a:lnR w="12700" cap="flat" cmpd="sng" algn="ctr">
                      <a:solidFill>
                        <a:srgbClr val="D9DCE5"/>
                      </a:solidFill>
                      <a:prstDash val="solid"/>
                      <a:round/>
                      <a:headEnd type="none" w="med" len="med"/>
                      <a:tailEnd type="none" w="med" len="med"/>
                    </a:lnR>
                    <a:lnT w="12700" cap="flat" cmpd="sng" algn="ctr">
                      <a:solidFill>
                        <a:srgbClr val="D9DCE5"/>
                      </a:solidFill>
                      <a:prstDash val="solid"/>
                      <a:round/>
                      <a:headEnd type="none" w="med" len="med"/>
                      <a:tailEnd type="none" w="med" len="med"/>
                    </a:lnT>
                    <a:lnB w="12700" cap="flat" cmpd="sng" algn="ctr">
                      <a:solidFill>
                        <a:srgbClr val="D9DCE5"/>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4F5568"/>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12700" cap="flat" cmpd="sng" algn="ctr">
                      <a:solidFill>
                        <a:srgbClr val="D9DCE5"/>
                      </a:solidFill>
                      <a:prstDash val="solid"/>
                      <a:round/>
                      <a:headEnd type="none" w="med" len="med"/>
                      <a:tailEnd type="none" w="med" len="med"/>
                    </a:lnL>
                    <a:lnR w="12700" cap="flat" cmpd="sng" algn="ctr">
                      <a:solidFill>
                        <a:srgbClr val="D9DCE5"/>
                      </a:solidFill>
                      <a:prstDash val="solid"/>
                      <a:round/>
                      <a:headEnd type="none" w="med" len="med"/>
                      <a:tailEnd type="none" w="med" len="med"/>
                    </a:lnR>
                    <a:lnT w="12700" cap="flat" cmpd="sng" algn="ctr">
                      <a:solidFill>
                        <a:srgbClr val="D9DCE5"/>
                      </a:solidFill>
                      <a:prstDash val="solid"/>
                      <a:round/>
                      <a:headEnd type="none" w="med" len="med"/>
                      <a:tailEnd type="none" w="med" len="med"/>
                    </a:lnT>
                    <a:lnB w="12700" cap="flat" cmpd="sng" algn="ctr">
                      <a:solidFill>
                        <a:srgbClr val="D9DCE5"/>
                      </a:solidFill>
                      <a:prstDash val="solid"/>
                      <a:round/>
                      <a:headEnd type="none" w="med" len="med"/>
                      <a:tailEnd type="none" w="med" len="med"/>
                    </a:lnB>
                  </a:tcPr>
                </a:tc>
                <a:tc>
                  <a:txBody>
                    <a:bodyPr/>
                    <a:lstStyle/>
                    <a:p>
                      <a:pPr algn="ctr" indent="0" marL="0">
                        <a:buNone/>
                      </a:pPr>
                      <a:r>
                        <a:rPr lang="en-US" sz="1500" dirty="0">
                          <a:solidFill>
                            <a:srgbClr val="4F5568"/>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12700" cap="flat" cmpd="sng" algn="ctr">
                      <a:solidFill>
                        <a:srgbClr val="D9DCE5"/>
                      </a:solidFill>
                      <a:prstDash val="solid"/>
                      <a:round/>
                      <a:headEnd type="none" w="med" len="med"/>
                      <a:tailEnd type="none" w="med" len="med"/>
                    </a:lnL>
                    <a:lnR w="12700" cap="flat" cmpd="sng" algn="ctr">
                      <a:solidFill>
                        <a:srgbClr val="D9DCE5"/>
                      </a:solidFill>
                      <a:prstDash val="solid"/>
                      <a:round/>
                      <a:headEnd type="none" w="med" len="med"/>
                      <a:tailEnd type="none" w="med" len="med"/>
                    </a:lnR>
                    <a:lnT w="12700" cap="flat" cmpd="sng" algn="ctr">
                      <a:solidFill>
                        <a:srgbClr val="D9DCE5"/>
                      </a:solidFill>
                      <a:prstDash val="solid"/>
                      <a:round/>
                      <a:headEnd type="none" w="med" len="med"/>
                      <a:tailEnd type="none" w="med" len="med"/>
                    </a:lnT>
                    <a:lnB w="12700" cap="flat" cmpd="sng" algn="ctr">
                      <a:solidFill>
                        <a:srgbClr val="D9DCE5"/>
                      </a:solidFill>
                      <a:prstDash val="solid"/>
                      <a:round/>
                      <a:headEnd type="none" w="med" len="med"/>
                      <a:tailEnd type="none" w="med" len="med"/>
                    </a:lnB>
                  </a:tcPr>
                </a:tc>
                <a:tc>
                  <a:txBody>
                    <a:bodyPr/>
                    <a:lstStyle/>
                    <a:p>
                      <a:pPr algn="ctr" indent="0" marL="0">
                        <a:buNone/>
                      </a:pPr>
                      <a:r>
                        <a:rPr lang="en-US" sz="1500" b="1" dirty="0">
                          <a:solidFill>
                            <a:srgbClr val="2340B8"/>
                          </a:solidFill>
                          <a:latin typeface="Calibri" pitchFamily="34" charset="0"/>
                          <a:ea typeface="Calibri" pitchFamily="34" charset="-122"/>
                          <a:cs typeface="Calibri" pitchFamily="34" charset="-120"/>
                        </a:rPr>
                        <a:t>Sí</a:t>
                      </a:r>
                      <a:endParaRPr lang="en-US" sz="1500" dirty="0">
                        <a:latin typeface="Calibri" charset="0"/>
                        <a:ea typeface="Calibri" charset="0"/>
                        <a:cs typeface="Calibri" charset="0"/>
                      </a:endParaRPr>
                    </a:p>
                  </a:txBody>
                  <a:tcPr marL="91440" marR="91440" marT="45720" marB="45720" anchor="ctr">
                    <a:lnL w="12700" cap="flat" cmpd="sng" algn="ctr">
                      <a:solidFill>
                        <a:srgbClr val="D9DCE5"/>
                      </a:solidFill>
                      <a:prstDash val="solid"/>
                      <a:round/>
                      <a:headEnd type="none" w="med" len="med"/>
                      <a:tailEnd type="none" w="med" len="med"/>
                    </a:lnL>
                    <a:lnR w="12700" cap="flat" cmpd="sng" algn="ctr">
                      <a:solidFill>
                        <a:srgbClr val="D9DCE5"/>
                      </a:solidFill>
                      <a:prstDash val="solid"/>
                      <a:round/>
                      <a:headEnd type="none" w="med" len="med"/>
                      <a:tailEnd type="none" w="med" len="med"/>
                    </a:lnR>
                    <a:lnT w="12700" cap="flat" cmpd="sng" algn="ctr">
                      <a:solidFill>
                        <a:srgbClr val="D9DCE5"/>
                      </a:solidFill>
                      <a:prstDash val="solid"/>
                      <a:round/>
                      <a:headEnd type="none" w="med" len="med"/>
                      <a:tailEnd type="none" w="med" len="med"/>
                    </a:lnT>
                    <a:lnB w="12700" cap="flat" cmpd="sng" algn="ctr">
                      <a:solidFill>
                        <a:srgbClr val="D9DCE5"/>
                      </a:solidFill>
                      <a:prstDash val="solid"/>
                      <a:round/>
                      <a:headEnd type="none" w="med" len="med"/>
                      <a:tailEnd type="none" w="med" len="med"/>
                    </a:lnB>
                  </a:tcPr>
                </a:tc>
                <a:tc>
                  <a:txBody>
                    <a:bodyPr/>
                    <a:lstStyle/>
                    <a:p>
                      <a:pPr algn="ctr" indent="0" marL="0">
                        <a:buNone/>
                      </a:pPr>
                      <a:r>
                        <a:rPr lang="en-US" sz="1500" b="1" dirty="0">
                          <a:solidFill>
                            <a:srgbClr val="2340B8"/>
                          </a:solidFill>
                          <a:latin typeface="Calibri" pitchFamily="34" charset="0"/>
                          <a:ea typeface="Calibri" pitchFamily="34" charset="-122"/>
                          <a:cs typeface="Calibri" pitchFamily="34" charset="-120"/>
                        </a:rPr>
                        <a:t>Sí</a:t>
                      </a:r>
                      <a:endParaRPr lang="en-US" sz="1500" dirty="0">
                        <a:latin typeface="Calibri" charset="0"/>
                        <a:ea typeface="Calibri" charset="0"/>
                        <a:cs typeface="Calibri" charset="0"/>
                      </a:endParaRPr>
                    </a:p>
                  </a:txBody>
                  <a:tcPr marL="91440" marR="91440" marT="45720" marB="45720" anchor="ctr">
                    <a:lnL w="12700" cap="flat" cmpd="sng" algn="ctr">
                      <a:solidFill>
                        <a:srgbClr val="D9DCE5"/>
                      </a:solidFill>
                      <a:prstDash val="solid"/>
                      <a:round/>
                      <a:headEnd type="none" w="med" len="med"/>
                      <a:tailEnd type="none" w="med" len="med"/>
                    </a:lnL>
                    <a:lnR w="12700" cap="flat" cmpd="sng" algn="ctr">
                      <a:solidFill>
                        <a:srgbClr val="D9DCE5"/>
                      </a:solidFill>
                      <a:prstDash val="solid"/>
                      <a:round/>
                      <a:headEnd type="none" w="med" len="med"/>
                      <a:tailEnd type="none" w="med" len="med"/>
                    </a:lnR>
                    <a:lnT w="12700" cap="flat" cmpd="sng" algn="ctr">
                      <a:solidFill>
                        <a:srgbClr val="D9DCE5"/>
                      </a:solidFill>
                      <a:prstDash val="solid"/>
                      <a:round/>
                      <a:headEnd type="none" w="med" len="med"/>
                      <a:tailEnd type="none" w="med" len="med"/>
                    </a:lnT>
                    <a:lnB w="12700" cap="flat" cmpd="sng" algn="ctr">
                      <a:solidFill>
                        <a:srgbClr val="D9DCE5"/>
                      </a:solidFill>
                      <a:prstDash val="solid"/>
                      <a:round/>
                      <a:headEnd type="none" w="med" len="med"/>
                      <a:tailEnd type="none" w="med" len="med"/>
                    </a:lnB>
                  </a:tcPr>
                </a:tc>
              </a:tr>
              <a:tr h="566928">
                <a:tc>
                  <a:txBody>
                    <a:bodyPr/>
                    <a:lstStyle/>
                    <a:p>
                      <a:pPr indent="0" marL="0">
                        <a:buNone/>
                      </a:pPr>
                      <a:r>
                        <a:rPr lang="en-US" sz="1500" b="1" dirty="0">
                          <a:solidFill>
                            <a:srgbClr val="141B34"/>
                          </a:solidFill>
                          <a:latin typeface="Calibri" pitchFamily="34" charset="0"/>
                          <a:ea typeface="Calibri" pitchFamily="34" charset="-122"/>
                          <a:cs typeface="Calibri" pitchFamily="34" charset="-120"/>
                        </a:rPr>
                        <a:t>Exámenes orales con IA</a:t>
                      </a:r>
                      <a:endParaRPr lang="en-US" sz="1500" dirty="0">
                        <a:latin typeface="Calibri" charset="0"/>
                        <a:ea typeface="Calibri" charset="0"/>
                        <a:cs typeface="Calibri" charset="0"/>
                      </a:endParaRPr>
                    </a:p>
                  </a:txBody>
                  <a:tcPr marL="91440" marR="91440" marT="45720" marB="45720" anchor="ctr">
                    <a:lnL w="12700" cap="flat" cmpd="sng" algn="ctr">
                      <a:solidFill>
                        <a:srgbClr val="D9DCE5"/>
                      </a:solidFill>
                      <a:prstDash val="solid"/>
                      <a:round/>
                      <a:headEnd type="none" w="med" len="med"/>
                      <a:tailEnd type="none" w="med" len="med"/>
                    </a:lnL>
                    <a:lnR w="12700" cap="flat" cmpd="sng" algn="ctr">
                      <a:solidFill>
                        <a:srgbClr val="D9DCE5"/>
                      </a:solidFill>
                      <a:prstDash val="solid"/>
                      <a:round/>
                      <a:headEnd type="none" w="med" len="med"/>
                      <a:tailEnd type="none" w="med" len="med"/>
                    </a:lnR>
                    <a:lnT w="12700" cap="flat" cmpd="sng" algn="ctr">
                      <a:solidFill>
                        <a:srgbClr val="D9DCE5"/>
                      </a:solidFill>
                      <a:prstDash val="solid"/>
                      <a:round/>
                      <a:headEnd type="none" w="med" len="med"/>
                      <a:tailEnd type="none" w="med" len="med"/>
                    </a:lnT>
                    <a:lnB w="12700" cap="flat" cmpd="sng" algn="ctr">
                      <a:solidFill>
                        <a:srgbClr val="D9DCE5"/>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2340B8"/>
                          </a:solidFill>
                          <a:latin typeface="Calibri" pitchFamily="34" charset="0"/>
                          <a:ea typeface="Calibri" pitchFamily="34" charset="-122"/>
                          <a:cs typeface="Calibri" pitchFamily="34" charset="-120"/>
                        </a:rPr>
                        <a:t>Sí</a:t>
                      </a:r>
                      <a:endParaRPr lang="en-US" sz="1500" dirty="0">
                        <a:latin typeface="Calibri" charset="0"/>
                        <a:ea typeface="Calibri" charset="0"/>
                        <a:cs typeface="Calibri" charset="0"/>
                      </a:endParaRPr>
                    </a:p>
                  </a:txBody>
                  <a:tcPr marL="91440" marR="91440" marT="45720" marB="45720" anchor="ctr">
                    <a:lnL w="12700" cap="flat" cmpd="sng" algn="ctr">
                      <a:solidFill>
                        <a:srgbClr val="D9DCE5"/>
                      </a:solidFill>
                      <a:prstDash val="solid"/>
                      <a:round/>
                      <a:headEnd type="none" w="med" len="med"/>
                      <a:tailEnd type="none" w="med" len="med"/>
                    </a:lnL>
                    <a:lnR w="12700" cap="flat" cmpd="sng" algn="ctr">
                      <a:solidFill>
                        <a:srgbClr val="D9DCE5"/>
                      </a:solidFill>
                      <a:prstDash val="solid"/>
                      <a:round/>
                      <a:headEnd type="none" w="med" len="med"/>
                      <a:tailEnd type="none" w="med" len="med"/>
                    </a:lnR>
                    <a:lnT w="12700" cap="flat" cmpd="sng" algn="ctr">
                      <a:solidFill>
                        <a:srgbClr val="D9DCE5"/>
                      </a:solidFill>
                      <a:prstDash val="solid"/>
                      <a:round/>
                      <a:headEnd type="none" w="med" len="med"/>
                      <a:tailEnd type="none" w="med" len="med"/>
                    </a:lnT>
                    <a:lnB w="12700" cap="flat" cmpd="sng" algn="ctr">
                      <a:solidFill>
                        <a:srgbClr val="D9DCE5"/>
                      </a:solidFill>
                      <a:prstDash val="solid"/>
                      <a:round/>
                      <a:headEnd type="none" w="med" len="med"/>
                      <a:tailEnd type="none" w="med" len="med"/>
                    </a:lnB>
                  </a:tcPr>
                </a:tc>
                <a:tc>
                  <a:txBody>
                    <a:bodyPr/>
                    <a:lstStyle/>
                    <a:p>
                      <a:pPr algn="ctr" indent="0" marL="0">
                        <a:buNone/>
                      </a:pPr>
                      <a:r>
                        <a:rPr lang="en-US" sz="1500" dirty="0">
                          <a:solidFill>
                            <a:srgbClr val="4F5568"/>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12700" cap="flat" cmpd="sng" algn="ctr">
                      <a:solidFill>
                        <a:srgbClr val="D9DCE5"/>
                      </a:solidFill>
                      <a:prstDash val="solid"/>
                      <a:round/>
                      <a:headEnd type="none" w="med" len="med"/>
                      <a:tailEnd type="none" w="med" len="med"/>
                    </a:lnL>
                    <a:lnR w="12700" cap="flat" cmpd="sng" algn="ctr">
                      <a:solidFill>
                        <a:srgbClr val="D9DCE5"/>
                      </a:solidFill>
                      <a:prstDash val="solid"/>
                      <a:round/>
                      <a:headEnd type="none" w="med" len="med"/>
                      <a:tailEnd type="none" w="med" len="med"/>
                    </a:lnR>
                    <a:lnT w="12700" cap="flat" cmpd="sng" algn="ctr">
                      <a:solidFill>
                        <a:srgbClr val="D9DCE5"/>
                      </a:solidFill>
                      <a:prstDash val="solid"/>
                      <a:round/>
                      <a:headEnd type="none" w="med" len="med"/>
                      <a:tailEnd type="none" w="med" len="med"/>
                    </a:lnT>
                    <a:lnB w="12700" cap="flat" cmpd="sng" algn="ctr">
                      <a:solidFill>
                        <a:srgbClr val="D9DCE5"/>
                      </a:solidFill>
                      <a:prstDash val="solid"/>
                      <a:round/>
                      <a:headEnd type="none" w="med" len="med"/>
                      <a:tailEnd type="none" w="med" len="med"/>
                    </a:lnB>
                  </a:tcPr>
                </a:tc>
                <a:tc>
                  <a:txBody>
                    <a:bodyPr/>
                    <a:lstStyle/>
                    <a:p>
                      <a:pPr algn="ctr" indent="0" marL="0">
                        <a:buNone/>
                      </a:pPr>
                      <a:r>
                        <a:rPr lang="en-US" sz="1500" dirty="0">
                          <a:solidFill>
                            <a:srgbClr val="4F5568"/>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12700" cap="flat" cmpd="sng" algn="ctr">
                      <a:solidFill>
                        <a:srgbClr val="D9DCE5"/>
                      </a:solidFill>
                      <a:prstDash val="solid"/>
                      <a:round/>
                      <a:headEnd type="none" w="med" len="med"/>
                      <a:tailEnd type="none" w="med" len="med"/>
                    </a:lnL>
                    <a:lnR w="12700" cap="flat" cmpd="sng" algn="ctr">
                      <a:solidFill>
                        <a:srgbClr val="D9DCE5"/>
                      </a:solidFill>
                      <a:prstDash val="solid"/>
                      <a:round/>
                      <a:headEnd type="none" w="med" len="med"/>
                      <a:tailEnd type="none" w="med" len="med"/>
                    </a:lnR>
                    <a:lnT w="12700" cap="flat" cmpd="sng" algn="ctr">
                      <a:solidFill>
                        <a:srgbClr val="D9DCE5"/>
                      </a:solidFill>
                      <a:prstDash val="solid"/>
                      <a:round/>
                      <a:headEnd type="none" w="med" len="med"/>
                      <a:tailEnd type="none" w="med" len="med"/>
                    </a:lnT>
                    <a:lnB w="12700" cap="flat" cmpd="sng" algn="ctr">
                      <a:solidFill>
                        <a:srgbClr val="D9DCE5"/>
                      </a:solidFill>
                      <a:prstDash val="solid"/>
                      <a:round/>
                      <a:headEnd type="none" w="med" len="med"/>
                      <a:tailEnd type="none" w="med" len="med"/>
                    </a:lnB>
                  </a:tcPr>
                </a:tc>
                <a:tc>
                  <a:txBody>
                    <a:bodyPr/>
                    <a:lstStyle/>
                    <a:p>
                      <a:pPr algn="ctr" indent="0" marL="0">
                        <a:buNone/>
                      </a:pPr>
                      <a:r>
                        <a:rPr lang="en-US" sz="1500" b="1" dirty="0">
                          <a:solidFill>
                            <a:srgbClr val="2340B8"/>
                          </a:solidFill>
                          <a:latin typeface="Calibri" pitchFamily="34" charset="0"/>
                          <a:ea typeface="Calibri" pitchFamily="34" charset="-122"/>
                          <a:cs typeface="Calibri" pitchFamily="34" charset="-120"/>
                        </a:rPr>
                        <a:t>Sí</a:t>
                      </a:r>
                      <a:endParaRPr lang="en-US" sz="1500" dirty="0">
                        <a:latin typeface="Calibri" charset="0"/>
                        <a:ea typeface="Calibri" charset="0"/>
                        <a:cs typeface="Calibri" charset="0"/>
                      </a:endParaRPr>
                    </a:p>
                  </a:txBody>
                  <a:tcPr marL="91440" marR="91440" marT="45720" marB="45720" anchor="ctr">
                    <a:lnL w="12700" cap="flat" cmpd="sng" algn="ctr">
                      <a:solidFill>
                        <a:srgbClr val="D9DCE5"/>
                      </a:solidFill>
                      <a:prstDash val="solid"/>
                      <a:round/>
                      <a:headEnd type="none" w="med" len="med"/>
                      <a:tailEnd type="none" w="med" len="med"/>
                    </a:lnL>
                    <a:lnR w="12700" cap="flat" cmpd="sng" algn="ctr">
                      <a:solidFill>
                        <a:srgbClr val="D9DCE5"/>
                      </a:solidFill>
                      <a:prstDash val="solid"/>
                      <a:round/>
                      <a:headEnd type="none" w="med" len="med"/>
                      <a:tailEnd type="none" w="med" len="med"/>
                    </a:lnR>
                    <a:lnT w="12700" cap="flat" cmpd="sng" algn="ctr">
                      <a:solidFill>
                        <a:srgbClr val="D9DCE5"/>
                      </a:solidFill>
                      <a:prstDash val="solid"/>
                      <a:round/>
                      <a:headEnd type="none" w="med" len="med"/>
                      <a:tailEnd type="none" w="med" len="med"/>
                    </a:lnT>
                    <a:lnB w="12700" cap="flat" cmpd="sng" algn="ctr">
                      <a:solidFill>
                        <a:srgbClr val="D9DCE5"/>
                      </a:solidFill>
                      <a:prstDash val="solid"/>
                      <a:round/>
                      <a:headEnd type="none" w="med" len="med"/>
                      <a:tailEnd type="none" w="med" len="med"/>
                    </a:lnB>
                  </a:tcPr>
                </a:tc>
              </a:tr>
              <a:tr h="566928">
                <a:tc>
                  <a:txBody>
                    <a:bodyPr/>
                    <a:lstStyle/>
                    <a:p>
                      <a:pPr indent="0" marL="0">
                        <a:buNone/>
                      </a:pPr>
                      <a:r>
                        <a:rPr lang="en-US" sz="1500" b="1" dirty="0">
                          <a:solidFill>
                            <a:srgbClr val="141B34"/>
                          </a:solidFill>
                          <a:latin typeface="Calibri" pitchFamily="34" charset="0"/>
                          <a:ea typeface="Calibri" pitchFamily="34" charset="-122"/>
                          <a:cs typeface="Calibri" pitchFamily="34" charset="-120"/>
                        </a:rPr>
                        <a:t>Defiéndelo</a:t>
                      </a:r>
                      <a:endParaRPr lang="en-US" sz="1500" dirty="0">
                        <a:latin typeface="Calibri" charset="0"/>
                        <a:ea typeface="Calibri" charset="0"/>
                        <a:cs typeface="Calibri" charset="0"/>
                      </a:endParaRPr>
                    </a:p>
                  </a:txBody>
                  <a:tcPr marL="91440" marR="91440" marT="45720" marB="45720" anchor="ctr">
                    <a:lnL w="12700" cap="flat" cmpd="sng" algn="ctr">
                      <a:solidFill>
                        <a:srgbClr val="D9DCE5"/>
                      </a:solidFill>
                      <a:prstDash val="solid"/>
                      <a:round/>
                      <a:headEnd type="none" w="med" len="med"/>
                      <a:tailEnd type="none" w="med" len="med"/>
                    </a:lnL>
                    <a:lnR w="12700" cap="flat" cmpd="sng" algn="ctr">
                      <a:solidFill>
                        <a:srgbClr val="D9DCE5"/>
                      </a:solidFill>
                      <a:prstDash val="solid"/>
                      <a:round/>
                      <a:headEnd type="none" w="med" len="med"/>
                      <a:tailEnd type="none" w="med" len="med"/>
                    </a:lnR>
                    <a:lnT w="12700" cap="flat" cmpd="sng" algn="ctr">
                      <a:solidFill>
                        <a:srgbClr val="D9DCE5"/>
                      </a:solidFill>
                      <a:prstDash val="solid"/>
                      <a:round/>
                      <a:headEnd type="none" w="med" len="med"/>
                      <a:tailEnd type="none" w="med" len="med"/>
                    </a:lnT>
                    <a:lnB w="12700" cap="flat" cmpd="sng" algn="ctr">
                      <a:solidFill>
                        <a:srgbClr val="D9DCE5"/>
                      </a:solidFill>
                      <a:prstDash val="solid"/>
                      <a:round/>
                      <a:headEnd type="none" w="med" len="med"/>
                      <a:tailEnd type="none" w="med" len="med"/>
                    </a:lnB>
                    <a:solidFill>
                      <a:srgbClr val="FBF0D4"/>
                    </a:solidFill>
                  </a:tcPr>
                </a:tc>
                <a:tc>
                  <a:txBody>
                    <a:bodyPr/>
                    <a:lstStyle/>
                    <a:p>
                      <a:pPr algn="ctr" indent="0" marL="0">
                        <a:buNone/>
                      </a:pPr>
                      <a:r>
                        <a:rPr lang="en-US" sz="1500" b="1" dirty="0">
                          <a:solidFill>
                            <a:srgbClr val="2340B8"/>
                          </a:solidFill>
                          <a:latin typeface="Calibri" pitchFamily="34" charset="0"/>
                          <a:ea typeface="Calibri" pitchFamily="34" charset="-122"/>
                          <a:cs typeface="Calibri" pitchFamily="34" charset="-120"/>
                        </a:rPr>
                        <a:t>Sí</a:t>
                      </a:r>
                      <a:endParaRPr lang="en-US" sz="1500" dirty="0">
                        <a:latin typeface="Calibri" charset="0"/>
                        <a:ea typeface="Calibri" charset="0"/>
                        <a:cs typeface="Calibri" charset="0"/>
                      </a:endParaRPr>
                    </a:p>
                  </a:txBody>
                  <a:tcPr marL="91440" marR="91440" marT="45720" marB="45720" anchor="ctr">
                    <a:lnL w="12700" cap="flat" cmpd="sng" algn="ctr">
                      <a:solidFill>
                        <a:srgbClr val="D9DCE5"/>
                      </a:solidFill>
                      <a:prstDash val="solid"/>
                      <a:round/>
                      <a:headEnd type="none" w="med" len="med"/>
                      <a:tailEnd type="none" w="med" len="med"/>
                    </a:lnL>
                    <a:lnR w="12700" cap="flat" cmpd="sng" algn="ctr">
                      <a:solidFill>
                        <a:srgbClr val="D9DCE5"/>
                      </a:solidFill>
                      <a:prstDash val="solid"/>
                      <a:round/>
                      <a:headEnd type="none" w="med" len="med"/>
                      <a:tailEnd type="none" w="med" len="med"/>
                    </a:lnR>
                    <a:lnT w="12700" cap="flat" cmpd="sng" algn="ctr">
                      <a:solidFill>
                        <a:srgbClr val="D9DCE5"/>
                      </a:solidFill>
                      <a:prstDash val="solid"/>
                      <a:round/>
                      <a:headEnd type="none" w="med" len="med"/>
                      <a:tailEnd type="none" w="med" len="med"/>
                    </a:lnT>
                    <a:lnB w="12700" cap="flat" cmpd="sng" algn="ctr">
                      <a:solidFill>
                        <a:srgbClr val="D9DCE5"/>
                      </a:solidFill>
                      <a:prstDash val="solid"/>
                      <a:round/>
                      <a:headEnd type="none" w="med" len="med"/>
                      <a:tailEnd type="none" w="med" len="med"/>
                    </a:lnB>
                    <a:solidFill>
                      <a:srgbClr val="FBF0D4"/>
                    </a:solidFill>
                  </a:tcPr>
                </a:tc>
                <a:tc>
                  <a:txBody>
                    <a:bodyPr/>
                    <a:lstStyle/>
                    <a:p>
                      <a:pPr algn="ctr" indent="0" marL="0">
                        <a:buNone/>
                      </a:pPr>
                      <a:r>
                        <a:rPr lang="en-US" sz="1500" b="1" dirty="0">
                          <a:solidFill>
                            <a:srgbClr val="2340B8"/>
                          </a:solidFill>
                          <a:latin typeface="Calibri" pitchFamily="34" charset="0"/>
                          <a:ea typeface="Calibri" pitchFamily="34" charset="-122"/>
                          <a:cs typeface="Calibri" pitchFamily="34" charset="-120"/>
                        </a:rPr>
                        <a:t>Sí</a:t>
                      </a:r>
                      <a:endParaRPr lang="en-US" sz="1500" dirty="0">
                        <a:latin typeface="Calibri" charset="0"/>
                        <a:ea typeface="Calibri" charset="0"/>
                        <a:cs typeface="Calibri" charset="0"/>
                      </a:endParaRPr>
                    </a:p>
                  </a:txBody>
                  <a:tcPr marL="91440" marR="91440" marT="45720" marB="45720" anchor="ctr">
                    <a:lnL w="12700" cap="flat" cmpd="sng" algn="ctr">
                      <a:solidFill>
                        <a:srgbClr val="D9DCE5"/>
                      </a:solidFill>
                      <a:prstDash val="solid"/>
                      <a:round/>
                      <a:headEnd type="none" w="med" len="med"/>
                      <a:tailEnd type="none" w="med" len="med"/>
                    </a:lnL>
                    <a:lnR w="12700" cap="flat" cmpd="sng" algn="ctr">
                      <a:solidFill>
                        <a:srgbClr val="D9DCE5"/>
                      </a:solidFill>
                      <a:prstDash val="solid"/>
                      <a:round/>
                      <a:headEnd type="none" w="med" len="med"/>
                      <a:tailEnd type="none" w="med" len="med"/>
                    </a:lnR>
                    <a:lnT w="12700" cap="flat" cmpd="sng" algn="ctr">
                      <a:solidFill>
                        <a:srgbClr val="D9DCE5"/>
                      </a:solidFill>
                      <a:prstDash val="solid"/>
                      <a:round/>
                      <a:headEnd type="none" w="med" len="med"/>
                      <a:tailEnd type="none" w="med" len="med"/>
                    </a:lnT>
                    <a:lnB w="12700" cap="flat" cmpd="sng" algn="ctr">
                      <a:solidFill>
                        <a:srgbClr val="D9DCE5"/>
                      </a:solidFill>
                      <a:prstDash val="solid"/>
                      <a:round/>
                      <a:headEnd type="none" w="med" len="med"/>
                      <a:tailEnd type="none" w="med" len="med"/>
                    </a:lnB>
                    <a:solidFill>
                      <a:srgbClr val="FBF0D4"/>
                    </a:solidFill>
                  </a:tcPr>
                </a:tc>
                <a:tc>
                  <a:txBody>
                    <a:bodyPr/>
                    <a:lstStyle/>
                    <a:p>
                      <a:pPr algn="ctr" indent="0" marL="0">
                        <a:buNone/>
                      </a:pPr>
                      <a:r>
                        <a:rPr lang="en-US" sz="1500" b="1" dirty="0">
                          <a:solidFill>
                            <a:srgbClr val="2340B8"/>
                          </a:solidFill>
                          <a:latin typeface="Calibri" pitchFamily="34" charset="0"/>
                          <a:ea typeface="Calibri" pitchFamily="34" charset="-122"/>
                          <a:cs typeface="Calibri" pitchFamily="34" charset="-120"/>
                        </a:rPr>
                        <a:t>Sí</a:t>
                      </a:r>
                      <a:endParaRPr lang="en-US" sz="1500" dirty="0">
                        <a:latin typeface="Calibri" charset="0"/>
                        <a:ea typeface="Calibri" charset="0"/>
                        <a:cs typeface="Calibri" charset="0"/>
                      </a:endParaRPr>
                    </a:p>
                  </a:txBody>
                  <a:tcPr marL="91440" marR="91440" marT="45720" marB="45720" anchor="ctr">
                    <a:lnL w="12700" cap="flat" cmpd="sng" algn="ctr">
                      <a:solidFill>
                        <a:srgbClr val="D9DCE5"/>
                      </a:solidFill>
                      <a:prstDash val="solid"/>
                      <a:round/>
                      <a:headEnd type="none" w="med" len="med"/>
                      <a:tailEnd type="none" w="med" len="med"/>
                    </a:lnL>
                    <a:lnR w="12700" cap="flat" cmpd="sng" algn="ctr">
                      <a:solidFill>
                        <a:srgbClr val="D9DCE5"/>
                      </a:solidFill>
                      <a:prstDash val="solid"/>
                      <a:round/>
                      <a:headEnd type="none" w="med" len="med"/>
                      <a:tailEnd type="none" w="med" len="med"/>
                    </a:lnR>
                    <a:lnT w="12700" cap="flat" cmpd="sng" algn="ctr">
                      <a:solidFill>
                        <a:srgbClr val="D9DCE5"/>
                      </a:solidFill>
                      <a:prstDash val="solid"/>
                      <a:round/>
                      <a:headEnd type="none" w="med" len="med"/>
                      <a:tailEnd type="none" w="med" len="med"/>
                    </a:lnT>
                    <a:lnB w="12700" cap="flat" cmpd="sng" algn="ctr">
                      <a:solidFill>
                        <a:srgbClr val="D9DCE5"/>
                      </a:solidFill>
                      <a:prstDash val="solid"/>
                      <a:round/>
                      <a:headEnd type="none" w="med" len="med"/>
                      <a:tailEnd type="none" w="med" len="med"/>
                    </a:lnB>
                    <a:solidFill>
                      <a:srgbClr val="FBF0D4"/>
                    </a:solidFill>
                  </a:tcPr>
                </a:tc>
                <a:tc>
                  <a:txBody>
                    <a:bodyPr/>
                    <a:lstStyle/>
                    <a:p>
                      <a:pPr algn="ctr" indent="0" marL="0">
                        <a:buNone/>
                      </a:pPr>
                      <a:r>
                        <a:rPr lang="en-US" sz="1500" b="1" dirty="0">
                          <a:solidFill>
                            <a:srgbClr val="2340B8"/>
                          </a:solidFill>
                          <a:latin typeface="Calibri" pitchFamily="34" charset="0"/>
                          <a:ea typeface="Calibri" pitchFamily="34" charset="-122"/>
                          <a:cs typeface="Calibri" pitchFamily="34" charset="-120"/>
                        </a:rPr>
                        <a:t>Sí</a:t>
                      </a:r>
                      <a:endParaRPr lang="en-US" sz="1500" dirty="0">
                        <a:latin typeface="Calibri" charset="0"/>
                        <a:ea typeface="Calibri" charset="0"/>
                        <a:cs typeface="Calibri" charset="0"/>
                      </a:endParaRPr>
                    </a:p>
                  </a:txBody>
                  <a:tcPr marL="91440" marR="91440" marT="45720" marB="45720" anchor="ctr">
                    <a:lnL w="12700" cap="flat" cmpd="sng" algn="ctr">
                      <a:solidFill>
                        <a:srgbClr val="D9DCE5"/>
                      </a:solidFill>
                      <a:prstDash val="solid"/>
                      <a:round/>
                      <a:headEnd type="none" w="med" len="med"/>
                      <a:tailEnd type="none" w="med" len="med"/>
                    </a:lnL>
                    <a:lnR w="12700" cap="flat" cmpd="sng" algn="ctr">
                      <a:solidFill>
                        <a:srgbClr val="D9DCE5"/>
                      </a:solidFill>
                      <a:prstDash val="solid"/>
                      <a:round/>
                      <a:headEnd type="none" w="med" len="med"/>
                      <a:tailEnd type="none" w="med" len="med"/>
                    </a:lnR>
                    <a:lnT w="12700" cap="flat" cmpd="sng" algn="ctr">
                      <a:solidFill>
                        <a:srgbClr val="D9DCE5"/>
                      </a:solidFill>
                      <a:prstDash val="solid"/>
                      <a:round/>
                      <a:headEnd type="none" w="med" len="med"/>
                      <a:tailEnd type="none" w="med" len="med"/>
                    </a:lnT>
                    <a:lnB w="12700" cap="flat" cmpd="sng" algn="ctr">
                      <a:solidFill>
                        <a:srgbClr val="D9DCE5"/>
                      </a:solidFill>
                      <a:prstDash val="solid"/>
                      <a:round/>
                      <a:headEnd type="none" w="med" len="med"/>
                      <a:tailEnd type="none" w="med" len="med"/>
                    </a:lnB>
                    <a:solidFill>
                      <a:srgbClr val="FBF0D4"/>
                    </a:solidFill>
                  </a:tcPr>
                </a:tc>
              </a:tr>
            </a:tbl>
          </a:graphicData>
        </a:graphic>
      </p:graphicFrame>
      <p:sp>
        <p:nvSpPr>
          <p:cNvPr id="6" name="Differentiation takeaway"/>
          <p:cNvSpPr txBox="1"/>
          <p:nvPr/>
        </p:nvSpPr>
        <p:spPr>
          <a:xfrm>
            <a:off x="548640" y="5486400"/>
            <a:ext cx="11094415" cy="548640"/>
          </a:xfrm>
          <a:prstGeom prst="rect">
            <a:avLst/>
          </a:prstGeom>
          <a:noFill/>
          <a:ln/>
        </p:spPr>
        <p:txBody>
          <a:bodyPr wrap="square" lIns="0" tIns="0" rIns="0" bIns="0" rtlCol="0" anchor="ctr"/>
          <a:lstStyle/>
          <a:p>
            <a:pPr indent="0" marL="0">
              <a:buNone/>
            </a:pPr>
            <a:r>
              <a:rPr lang="en-US" sz="1900" b="1" dirty="0">
                <a:solidFill>
                  <a:srgbClr val="141B34"/>
                </a:solidFill>
              </a:rPr>
              <a:t>No detecta IA ni da respuestas: pregunta y muestra qué no entendió cada alumno.</a:t>
            </a:r>
            <a:endParaRPr lang="en-US" sz="1900" dirty="0"/>
          </a:p>
        </p:txBody>
      </p:sp>
      <p:sp>
        <p:nvSpPr>
          <p:cNvPr id="25" name="Slide Number Placeholder 0"/>
          <p:cNvSpPr>
            <a:spLocks noGrp="1"/>
          </p:cNvSpPr>
          <p:nvPr>
            <p:ph type="sldNum" sz="quarter" idx="4294967295"/>
          </p:nvPr>
        </p:nvSpPr>
        <p:spPr>
          <a:xfrm>
            <a:off x="11277295" y="6355080"/>
            <a:ext cx="4114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4F556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300" b="1" spc="200" kern="0" dirty="0">
                <a:solidFill>
                  <a:schemeClr val="accent1"/>
                </a:solidFill>
              </a:rPr>
              <a:t>QUÉ · CASO DE NEGOCIO</a:t>
            </a:r>
            <a:endParaRPr lang="en-US" sz="1300" dirty="0"/>
          </a:p>
        </p:txBody>
      </p:sp>
      <p:sp>
        <p:nvSpPr>
          <p:cNvPr id="3" name="Text 0"/>
          <p:cNvSpPr/>
          <p:nvPr>
            <p:ph idx="101" type="title" hasCustomPrompt="1"/>
          </p:nvPr>
        </p:nvSpPr>
        <p:spPr>
          <a:xfrm>
            <a:off x="548640" y="685800"/>
            <a:ext cx="11094415" cy="777240"/>
          </a:xfrm>
          <a:prstGeom prst="rect">
            <a:avLst/>
          </a:prstGeom>
          <a:noFill/>
          <a:ln/>
        </p:spPr>
        <p:txBody>
          <a:bodyPr wrap="square" lIns="0" tIns="0" rIns="0" bIns="0" rtlCol="0" anchor="t"/>
          <a:lstStyle/>
          <a:p>
            <a:pPr algn="l" indent="0" marL="0">
              <a:buNone/>
            </a:pPr>
            <a:r>
              <a:rPr lang="en-US" sz="3400" b="1" dirty="0">
                <a:solidFill>
                  <a:schemeClr val="tx1"/>
                </a:solidFill>
              </a:rPr>
              <a:t>Gratis para el docente; la institución paga por evidencia</a:t>
            </a:r>
            <a:endParaRPr lang="en-US" sz="3400" dirty="0"/>
          </a:p>
        </p:txBody>
      </p:sp>
      <p:sp>
        <p:nvSpPr>
          <p:cNvPr id="4" name="Text 0"/>
          <p:cNvSpPr/>
          <p:nvPr>
            <p:ph idx="102" type="body" hasCustomPrompt="1"/>
          </p:nvPr>
        </p:nvSpPr>
        <p:spPr>
          <a:xfrm>
            <a:off x="548640" y="6355080"/>
            <a:ext cx="10180015" cy="320040"/>
          </a:xfrm>
          <a:prstGeom prst="rect">
            <a:avLst/>
          </a:prstGeom>
          <a:noFill/>
          <a:ln/>
        </p:spPr>
        <p:txBody>
          <a:bodyPr wrap="square" lIns="0" tIns="0" rIns="0" bIns="0" rtlCol="0"/>
          <a:lstStyle/>
          <a:p>
            <a:pPr indent="0" marL="0">
              <a:buNone/>
            </a:pPr>
            <a:r>
              <a:rPr lang="en-US" sz="1000" dirty="0">
                <a:solidFill>
                  <a:schemeClr val="accent4"/>
                </a:solidFill>
              </a:rPr>
              <a:t>Precio del modelo verificado; tokens por defensa = estimación propia. Turnitin: contratos de California (Sacra). Detalle en docs/investigacion/</a:t>
            </a:r>
            <a:endParaRPr lang="en-US" sz="1000" dirty="0"/>
          </a:p>
        </p:txBody>
      </p:sp>
      <p:sp>
        <p:nvSpPr>
          <p:cNvPr id="5" name="Cost card"/>
          <p:cNvSpPr/>
          <p:nvPr/>
        </p:nvSpPr>
        <p:spPr>
          <a:xfrm>
            <a:off x="548640" y="1783080"/>
            <a:ext cx="3840480" cy="3931920"/>
          </a:xfrm>
          <a:prstGeom prst="roundRect">
            <a:avLst>
              <a:gd name="adj" fmla="val 2857"/>
            </a:avLst>
          </a:prstGeom>
          <a:solidFill>
            <a:srgbClr val="141B34"/>
          </a:solidFill>
          <a:ln w="12700">
            <a:solidFill>
              <a:srgbClr val="141B34"/>
            </a:solidFill>
            <a:prstDash val="solid"/>
          </a:ln>
        </p:spPr>
      </p:sp>
      <p:sp>
        <p:nvSpPr>
          <p:cNvPr id="6" name="Cost stat"/>
          <p:cNvSpPr txBox="1"/>
          <p:nvPr/>
        </p:nvSpPr>
        <p:spPr>
          <a:xfrm>
            <a:off x="868680" y="2011680"/>
            <a:ext cx="3291840" cy="1188720"/>
          </a:xfrm>
          <a:prstGeom prst="rect">
            <a:avLst/>
          </a:prstGeom>
          <a:noFill/>
          <a:ln/>
        </p:spPr>
        <p:txBody>
          <a:bodyPr wrap="square" lIns="0" tIns="0" rIns="0" bIns="0" rtlCol="0" anchor="ctr"/>
          <a:lstStyle/>
          <a:p>
            <a:pPr indent="0" marL="0">
              <a:buNone/>
            </a:pPr>
            <a:r>
              <a:rPr lang="en-US" sz="6400" b="1" dirty="0">
                <a:solidFill>
                  <a:srgbClr val="E9B949"/>
                </a:solidFill>
              </a:rPr>
              <a:t>&lt; ½ ¢</a:t>
            </a:r>
            <a:endParaRPr lang="en-US" sz="6400" dirty="0"/>
          </a:p>
        </p:txBody>
      </p:sp>
      <p:sp>
        <p:nvSpPr>
          <p:cNvPr id="7" name="Cost label"/>
          <p:cNvSpPr txBox="1"/>
          <p:nvPr/>
        </p:nvSpPr>
        <p:spPr>
          <a:xfrm>
            <a:off x="868680" y="3200400"/>
            <a:ext cx="3200400" cy="914400"/>
          </a:xfrm>
          <a:prstGeom prst="rect">
            <a:avLst/>
          </a:prstGeom>
          <a:noFill/>
          <a:ln/>
        </p:spPr>
        <p:txBody>
          <a:bodyPr wrap="square" lIns="0" tIns="0" rIns="0" bIns="0" rtlCol="0" anchor="t"/>
          <a:lstStyle/>
          <a:p>
            <a:pPr indent="0" marL="0">
              <a:buNone/>
            </a:pPr>
            <a:r>
              <a:rPr lang="en-US" sz="1600" dirty="0">
                <a:solidFill>
                  <a:srgbClr val="FFFFFF"/>
                </a:solidFill>
              </a:rPr>
              <a:t>de dólar cuesta una defensa en IA (estimación propia)</a:t>
            </a:r>
            <a:endParaRPr lang="en-US" sz="1600" dirty="0"/>
          </a:p>
        </p:txBody>
      </p:sp>
      <p:sp>
        <p:nvSpPr>
          <p:cNvPr id="8" name="Price anchor"/>
          <p:cNvSpPr txBox="1"/>
          <p:nvPr/>
        </p:nvSpPr>
        <p:spPr>
          <a:xfrm>
            <a:off x="868680" y="4297680"/>
            <a:ext cx="3200400" cy="1188720"/>
          </a:xfrm>
          <a:prstGeom prst="rect">
            <a:avLst/>
          </a:prstGeom>
          <a:noFill/>
          <a:ln/>
        </p:spPr>
        <p:txBody>
          <a:bodyPr wrap="square" lIns="0" tIns="0" rIns="0" bIns="0" rtlCol="0" anchor="t"/>
          <a:lstStyle/>
          <a:p>
            <a:pPr indent="0" marL="0">
              <a:buNone/>
            </a:pPr>
            <a:r>
              <a:rPr lang="en-US" sz="1500" dirty="0">
                <a:solidFill>
                  <a:srgbClr val="E7ECFB"/>
                </a:solidFill>
              </a:rPr>
              <a:t>Turnitin: USD 1,79–6,50 por alumno al año. Cobramos por debajo.</a:t>
            </a:r>
            <a:endParaRPr lang="en-US" sz="1500" dirty="0"/>
          </a:p>
        </p:txBody>
      </p:sp>
      <p:sp>
        <p:nvSpPr>
          <p:cNvPr id="9" name="Route 1 dot"/>
          <p:cNvSpPr/>
          <p:nvPr/>
        </p:nvSpPr>
        <p:spPr>
          <a:xfrm>
            <a:off x="4800600" y="1920240"/>
            <a:ext cx="457200" cy="457200"/>
          </a:xfrm>
          <a:prstGeom prst="ellipse">
            <a:avLst/>
          </a:prstGeom>
          <a:solidFill>
            <a:srgbClr val="2340B8"/>
          </a:solidFill>
          <a:ln w="12700">
            <a:solidFill>
              <a:srgbClr val="2340B8"/>
            </a:solidFill>
            <a:prstDash val="solid"/>
          </a:ln>
        </p:spPr>
      </p:sp>
      <p:sp>
        <p:nvSpPr>
          <p:cNvPr id="10" name="Route 1 number"/>
          <p:cNvSpPr txBox="1"/>
          <p:nvPr/>
        </p:nvSpPr>
        <p:spPr>
          <a:xfrm>
            <a:off x="4800600" y="1920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11" name="Route 1 title"/>
          <p:cNvSpPr txBox="1"/>
          <p:nvPr/>
        </p:nvSpPr>
        <p:spPr>
          <a:xfrm>
            <a:off x="5486400" y="1828800"/>
            <a:ext cx="6126480" cy="457200"/>
          </a:xfrm>
          <a:prstGeom prst="rect">
            <a:avLst/>
          </a:prstGeom>
          <a:noFill/>
          <a:ln/>
        </p:spPr>
        <p:txBody>
          <a:bodyPr wrap="square" lIns="0" tIns="0" rIns="0" bIns="0" rtlCol="0" anchor="ctr"/>
          <a:lstStyle/>
          <a:p>
            <a:pPr indent="0" marL="0">
              <a:buNone/>
            </a:pPr>
            <a:r>
              <a:rPr lang="en-US" sz="2000" b="1" dirty="0">
                <a:solidFill>
                  <a:srgbClr val="141B34"/>
                </a:solidFill>
              </a:rPr>
              <a:t>0–6 meses</a:t>
            </a:r>
            <a:endParaRPr lang="en-US" sz="2000" dirty="0"/>
          </a:p>
        </p:txBody>
      </p:sp>
      <p:sp>
        <p:nvSpPr>
          <p:cNvPr id="12" name="Route 1 detail"/>
          <p:cNvSpPr txBox="1"/>
          <p:nvPr/>
        </p:nvSpPr>
        <p:spPr>
          <a:xfrm>
            <a:off x="5486400" y="2286000"/>
            <a:ext cx="6126480" cy="685800"/>
          </a:xfrm>
          <a:prstGeom prst="rect">
            <a:avLst/>
          </a:prstGeom>
          <a:noFill/>
          <a:ln/>
        </p:spPr>
        <p:txBody>
          <a:bodyPr wrap="square" lIns="0" tIns="0" rIns="0" bIns="0" rtlCol="0" anchor="t"/>
          <a:lstStyle/>
          <a:p>
            <a:pPr indent="0" marL="0">
              <a:buNone/>
            </a:pPr>
            <a:r>
              <a:rPr lang="en-US" sz="1500" dirty="0">
                <a:solidFill>
                  <a:srgbClr val="4F5568"/>
                </a:solidFill>
              </a:rPr>
              <a:t>Docentes individuales, gratis con un límite mensual.</a:t>
            </a:r>
            <a:endParaRPr lang="en-US" sz="1500" dirty="0"/>
          </a:p>
        </p:txBody>
      </p:sp>
      <p:sp>
        <p:nvSpPr>
          <p:cNvPr id="13" name="Route 2 dot"/>
          <p:cNvSpPr/>
          <p:nvPr/>
        </p:nvSpPr>
        <p:spPr>
          <a:xfrm>
            <a:off x="4800600" y="3246120"/>
            <a:ext cx="457200" cy="457200"/>
          </a:xfrm>
          <a:prstGeom prst="ellipse">
            <a:avLst/>
          </a:prstGeom>
          <a:solidFill>
            <a:srgbClr val="2340B8"/>
          </a:solidFill>
          <a:ln w="12700">
            <a:solidFill>
              <a:srgbClr val="2340B8"/>
            </a:solidFill>
            <a:prstDash val="solid"/>
          </a:ln>
        </p:spPr>
      </p:sp>
      <p:sp>
        <p:nvSpPr>
          <p:cNvPr id="14" name="Route 2 number"/>
          <p:cNvSpPr txBox="1"/>
          <p:nvPr/>
        </p:nvSpPr>
        <p:spPr>
          <a:xfrm>
            <a:off x="4800600" y="32461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5" name="Route 2 title"/>
          <p:cNvSpPr txBox="1"/>
          <p:nvPr/>
        </p:nvSpPr>
        <p:spPr>
          <a:xfrm>
            <a:off x="5486400" y="3154680"/>
            <a:ext cx="6126480" cy="457200"/>
          </a:xfrm>
          <a:prstGeom prst="rect">
            <a:avLst/>
          </a:prstGeom>
          <a:noFill/>
          <a:ln/>
        </p:spPr>
        <p:txBody>
          <a:bodyPr wrap="square" lIns="0" tIns="0" rIns="0" bIns="0" rtlCol="0" anchor="ctr"/>
          <a:lstStyle/>
          <a:p>
            <a:pPr indent="0" marL="0">
              <a:buNone/>
            </a:pPr>
            <a:r>
              <a:rPr lang="en-US" sz="2000" b="1" dirty="0">
                <a:solidFill>
                  <a:srgbClr val="141B34"/>
                </a:solidFill>
              </a:rPr>
              <a:t>6–18 meses</a:t>
            </a:r>
            <a:endParaRPr lang="en-US" sz="2000" dirty="0"/>
          </a:p>
        </p:txBody>
      </p:sp>
      <p:sp>
        <p:nvSpPr>
          <p:cNvPr id="16" name="Route 2 detail"/>
          <p:cNvSpPr txBox="1"/>
          <p:nvPr/>
        </p:nvSpPr>
        <p:spPr>
          <a:xfrm>
            <a:off x="5486400" y="3611880"/>
            <a:ext cx="6126480" cy="685800"/>
          </a:xfrm>
          <a:prstGeom prst="rect">
            <a:avLst/>
          </a:prstGeom>
          <a:noFill/>
          <a:ln/>
        </p:spPr>
        <p:txBody>
          <a:bodyPr wrap="square" lIns="0" tIns="0" rIns="0" bIns="0" rtlCol="0" anchor="t"/>
          <a:lstStyle/>
          <a:p>
            <a:pPr indent="0" marL="0">
              <a:buNone/>
            </a:pPr>
            <a:r>
              <a:rPr lang="en-US" sz="1500" dirty="0">
                <a:solidFill>
                  <a:srgbClr val="4F5568"/>
                </a:solidFill>
              </a:rPr>
              <a:t>Colegios privados y facultades: licencia por alumno al año cuando 3+ docentes lo usan.</a:t>
            </a:r>
            <a:endParaRPr lang="en-US" sz="1500" dirty="0"/>
          </a:p>
        </p:txBody>
      </p:sp>
      <p:sp>
        <p:nvSpPr>
          <p:cNvPr id="17" name="Route 3 dot"/>
          <p:cNvSpPr/>
          <p:nvPr/>
        </p:nvSpPr>
        <p:spPr>
          <a:xfrm>
            <a:off x="4800600" y="4572000"/>
            <a:ext cx="457200" cy="457200"/>
          </a:xfrm>
          <a:prstGeom prst="ellipse">
            <a:avLst/>
          </a:prstGeom>
          <a:solidFill>
            <a:srgbClr val="2340B8"/>
          </a:solidFill>
          <a:ln w="12700">
            <a:solidFill>
              <a:srgbClr val="2340B8"/>
            </a:solidFill>
            <a:prstDash val="solid"/>
          </a:ln>
        </p:spPr>
      </p:sp>
      <p:sp>
        <p:nvSpPr>
          <p:cNvPr id="18" name="Route 3 number"/>
          <p:cNvSpPr txBox="1"/>
          <p:nvPr/>
        </p:nvSpPr>
        <p:spPr>
          <a:xfrm>
            <a:off x="4800600" y="45720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9" name="Route 3 title"/>
          <p:cNvSpPr txBox="1"/>
          <p:nvPr/>
        </p:nvSpPr>
        <p:spPr>
          <a:xfrm>
            <a:off x="5486400" y="4480560"/>
            <a:ext cx="6126480" cy="457200"/>
          </a:xfrm>
          <a:prstGeom prst="rect">
            <a:avLst/>
          </a:prstGeom>
          <a:noFill/>
          <a:ln/>
        </p:spPr>
        <p:txBody>
          <a:bodyPr wrap="square" lIns="0" tIns="0" rIns="0" bIns="0" rtlCol="0" anchor="ctr"/>
          <a:lstStyle/>
          <a:p>
            <a:pPr indent="0" marL="0">
              <a:buNone/>
            </a:pPr>
            <a:r>
              <a:rPr lang="en-US" sz="2000" b="1" dirty="0">
                <a:solidFill>
                  <a:srgbClr val="141B34"/>
                </a:solidFill>
              </a:rPr>
              <a:t>18+ meses</a:t>
            </a:r>
            <a:endParaRPr lang="en-US" sz="2000" dirty="0"/>
          </a:p>
        </p:txBody>
      </p:sp>
      <p:sp>
        <p:nvSpPr>
          <p:cNvPr id="20" name="Route 3 detail"/>
          <p:cNvSpPr txBox="1"/>
          <p:nvPr/>
        </p:nvSpPr>
        <p:spPr>
          <a:xfrm>
            <a:off x="5486400" y="4937760"/>
            <a:ext cx="6126480" cy="685800"/>
          </a:xfrm>
          <a:prstGeom prst="rect">
            <a:avLst/>
          </a:prstGeom>
          <a:noFill/>
          <a:ln/>
        </p:spPr>
        <p:txBody>
          <a:bodyPr wrap="square" lIns="0" tIns="0" rIns="0" bIns="0" rtlCol="0" anchor="t"/>
          <a:lstStyle/>
          <a:p>
            <a:pPr indent="0" marL="0">
              <a:buNone/>
            </a:pPr>
            <a:r>
              <a:rPr lang="en-US" sz="1500" dirty="0">
                <a:solidFill>
                  <a:srgbClr val="4F5568"/>
                </a:solidFill>
              </a:rPr>
              <a:t>Sector público: pilotos con UGEL, con fondos de innovación o cooperación.</a:t>
            </a:r>
            <a:endParaRPr lang="en-US" sz="1500" dirty="0"/>
          </a:p>
        </p:txBody>
      </p:sp>
      <p:sp>
        <p:nvSpPr>
          <p:cNvPr id="25" name="Slide Number Placeholder 0"/>
          <p:cNvSpPr>
            <a:spLocks noGrp="1"/>
          </p:cNvSpPr>
          <p:nvPr>
            <p:ph type="sldNum" sz="quarter" idx="4294967295"/>
          </p:nvPr>
        </p:nvSpPr>
        <p:spPr>
          <a:xfrm>
            <a:off x="11277295" y="6355080"/>
            <a:ext cx="4114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4F556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300" b="1" spc="200" kern="0" dirty="0">
                <a:solidFill>
                  <a:schemeClr val="accent1"/>
                </a:solidFill>
              </a:rPr>
              <a:t>QUÉ · DÓNDE ESTAMOS</a:t>
            </a:r>
            <a:endParaRPr lang="en-US" sz="1300" dirty="0"/>
          </a:p>
        </p:txBody>
      </p:sp>
      <p:sp>
        <p:nvSpPr>
          <p:cNvPr id="3" name="Text 0"/>
          <p:cNvSpPr/>
          <p:nvPr>
            <p:ph idx="101" type="title" hasCustomPrompt="1"/>
          </p:nvPr>
        </p:nvSpPr>
        <p:spPr>
          <a:xfrm>
            <a:off x="548640" y="685800"/>
            <a:ext cx="11094415" cy="777240"/>
          </a:xfrm>
          <a:prstGeom prst="rect">
            <a:avLst/>
          </a:prstGeom>
          <a:noFill/>
          <a:ln/>
        </p:spPr>
        <p:txBody>
          <a:bodyPr wrap="square" lIns="0" tIns="0" rIns="0" bIns="0" rtlCol="0" anchor="t"/>
          <a:lstStyle/>
          <a:p>
            <a:pPr algn="l" indent="0" marL="0">
              <a:buNone/>
            </a:pPr>
            <a:r>
              <a:rPr lang="en-US" sz="3400" b="1" dirty="0">
                <a:solidFill>
                  <a:schemeClr val="tx1"/>
                </a:solidFill>
              </a:rPr>
              <a:t>Un MVP que funciona hoy, listo para validar</a:t>
            </a:r>
            <a:endParaRPr lang="en-US" sz="3400" dirty="0"/>
          </a:p>
        </p:txBody>
      </p:sp>
      <p:sp>
        <p:nvSpPr>
          <p:cNvPr id="4" name="Text 0"/>
          <p:cNvSpPr/>
          <p:nvPr>
            <p:ph idx="102" type="body" hasCustomPrompt="1"/>
          </p:nvPr>
        </p:nvSpPr>
        <p:spPr>
          <a:xfrm>
            <a:off x="548640" y="6355080"/>
            <a:ext cx="10180015" cy="320040"/>
          </a:xfrm>
          <a:prstGeom prst="rect">
            <a:avLst/>
          </a:prstGeom>
          <a:noFill/>
          <a:ln/>
        </p:spPr>
        <p:txBody>
          <a:bodyPr wrap="square" lIns="0" tIns="0" rIns="0" bIns="0" rtlCol="0"/>
          <a:lstStyle/>
          <a:p>
            <a:pPr indent="0" marL="0">
              <a:buNone/>
            </a:pPr>
            <a:r>
              <a:rPr lang="en-US" sz="1000" dirty="0">
                <a:solidFill>
                  <a:schemeClr val="accent4"/>
                </a:solidFill>
              </a:rPr>
              <a:t>Validación sin menores de edad. Métricas del piloto definidas en el README del repositorio.</a:t>
            </a:r>
            <a:endParaRPr lang="en-US" sz="1000" dirty="0"/>
          </a:p>
        </p:txBody>
      </p:sp>
      <p:sp>
        <p:nvSpPr>
          <p:cNvPr id="5" name="Done title"/>
          <p:cNvSpPr txBox="1"/>
          <p:nvPr/>
        </p:nvSpPr>
        <p:spPr>
          <a:xfrm>
            <a:off x="548640" y="1783080"/>
            <a:ext cx="5303520" cy="502920"/>
          </a:xfrm>
          <a:prstGeom prst="rect">
            <a:avLst/>
          </a:prstGeom>
          <a:noFill/>
          <a:ln/>
        </p:spPr>
        <p:txBody>
          <a:bodyPr wrap="square" lIns="0" tIns="0" rIns="0" bIns="0" rtlCol="0" anchor="ctr"/>
          <a:lstStyle/>
          <a:p>
            <a:pPr indent="0" marL="0">
              <a:buNone/>
            </a:pPr>
            <a:r>
              <a:rPr lang="en-US" sz="2200" b="1" dirty="0">
                <a:solidFill>
                  <a:srgbClr val="2340B8"/>
                </a:solidFill>
              </a:rPr>
              <a:t>Ya funciona</a:t>
            </a:r>
            <a:endParaRPr lang="en-US" sz="2200" dirty="0"/>
          </a:p>
        </p:txBody>
      </p:sp>
      <p:sp>
        <p:nvSpPr>
          <p:cNvPr id="6" name="Done list"/>
          <p:cNvSpPr txBox="1"/>
          <p:nvPr/>
        </p:nvSpPr>
        <p:spPr>
          <a:xfrm>
            <a:off x="548640" y="2377440"/>
            <a:ext cx="5303520" cy="2743200"/>
          </a:xfrm>
          <a:prstGeom prst="rect">
            <a:avLst/>
          </a:prstGeom>
          <a:noFill/>
          <a:ln/>
        </p:spPr>
        <p:txBody>
          <a:bodyPr wrap="square" rtlCol="0" anchor="t"/>
          <a:lstStyle/>
          <a:p>
            <a:pPr marL="342900" indent="-342900">
              <a:spcAft>
                <a:spcPts val="1200"/>
              </a:spcAft>
              <a:buSzPct val="100000"/>
              <a:buChar char="•"/>
            </a:pPr>
            <a:r>
              <a:rPr lang="en-US" sz="1700" dirty="0">
                <a:solidFill>
                  <a:srgbClr val="141B34"/>
                </a:solidFill>
              </a:rPr>
              <a:t>MVP desplegado: rediseño, prueba de estrés, defensa y revisión docente</a:t>
            </a:r>
            <a:endParaRPr lang="en-US" sz="1700" dirty="0"/>
          </a:p>
          <a:p>
            <a:pPr marL="342900" indent="-342900">
              <a:spcAft>
                <a:spcPts val="1200"/>
              </a:spcAft>
              <a:buSzPct val="100000"/>
              <a:buChar char="•"/>
            </a:pPr>
            <a:r>
              <a:rPr lang="en-US" sz="1700" dirty="0">
                <a:solidFill>
                  <a:srgbClr val="141B34"/>
                </a:solidFill>
              </a:rPr>
              <a:t>9 tareas de ejemplo de 8 cursos, con PDF y clases simuladas</a:t>
            </a:r>
            <a:endParaRPr lang="en-US" sz="1700" dirty="0"/>
          </a:p>
          <a:p>
            <a:pPr marL="342900" indent="-342900">
              <a:spcAft>
                <a:spcPts val="1200"/>
              </a:spcAft>
              <a:buSzPct val="100000"/>
              <a:buChar char="•"/>
            </a:pPr>
            <a:r>
              <a:rPr lang="en-US" sz="1700" dirty="0">
                <a:solidFill>
                  <a:srgbClr val="141B34"/>
                </a:solidFill>
              </a:rPr>
              <a:t>154 tests automáticos; funciona sin clave de IA en modo demo</a:t>
            </a:r>
            <a:endParaRPr lang="en-US" sz="1700" dirty="0"/>
          </a:p>
        </p:txBody>
      </p:sp>
      <p:sp>
        <p:nvSpPr>
          <p:cNvPr id="7" name="Next title"/>
          <p:cNvSpPr txBox="1"/>
          <p:nvPr/>
        </p:nvSpPr>
        <p:spPr>
          <a:xfrm>
            <a:off x="6309360" y="1783080"/>
            <a:ext cx="5303520" cy="502920"/>
          </a:xfrm>
          <a:prstGeom prst="rect">
            <a:avLst/>
          </a:prstGeom>
          <a:noFill/>
          <a:ln/>
        </p:spPr>
        <p:txBody>
          <a:bodyPr wrap="square" lIns="0" tIns="0" rIns="0" bIns="0" rtlCol="0" anchor="ctr"/>
          <a:lstStyle/>
          <a:p>
            <a:pPr indent="0" marL="0">
              <a:buNone/>
            </a:pPr>
            <a:r>
              <a:rPr lang="en-US" sz="2200" b="1" dirty="0">
                <a:solidFill>
                  <a:srgbClr val="B8461F"/>
                </a:solidFill>
              </a:rPr>
              <a:t>Siguiente paso: validar</a:t>
            </a:r>
            <a:endParaRPr lang="en-US" sz="2200" dirty="0"/>
          </a:p>
        </p:txBody>
      </p:sp>
      <p:sp>
        <p:nvSpPr>
          <p:cNvPr id="8" name="Next list"/>
          <p:cNvSpPr txBox="1"/>
          <p:nvPr/>
        </p:nvSpPr>
        <p:spPr>
          <a:xfrm>
            <a:off x="6309360" y="2377440"/>
            <a:ext cx="5303520" cy="2743200"/>
          </a:xfrm>
          <a:prstGeom prst="rect">
            <a:avLst/>
          </a:prstGeom>
          <a:noFill/>
          <a:ln/>
        </p:spPr>
        <p:txBody>
          <a:bodyPr wrap="square" rtlCol="0" anchor="t"/>
          <a:lstStyle/>
          <a:p>
            <a:pPr marL="342900" indent="-342900">
              <a:spcAft>
                <a:spcPts val="1200"/>
              </a:spcAft>
              <a:buSzPct val="100000"/>
              <a:buChar char="•"/>
            </a:pPr>
            <a:r>
              <a:rPr lang="en-US" sz="1700" dirty="0">
                <a:solidFill>
                  <a:srgbClr val="141B34"/>
                </a:solidFill>
              </a:rPr>
              <a:t>Probar con 1–2 docentes y 5–10 estudiantes reales</a:t>
            </a:r>
            <a:endParaRPr lang="en-US" sz="1700" dirty="0"/>
          </a:p>
          <a:p>
            <a:pPr marL="342900" indent="-342900">
              <a:spcAft>
                <a:spcPts val="1200"/>
              </a:spcAft>
              <a:buSzPct val="100000"/>
              <a:buChar char="•"/>
            </a:pPr>
            <a:r>
              <a:rPr lang="en-US" sz="1700" dirty="0">
                <a:solidFill>
                  <a:srgbClr val="141B34"/>
                </a:solidFill>
              </a:rPr>
              <a:t>Medir la brecha entre lo entregado y lo explicado</a:t>
            </a:r>
            <a:endParaRPr lang="en-US" sz="1700" dirty="0"/>
          </a:p>
          <a:p>
            <a:pPr marL="342900" indent="-342900">
              <a:spcAft>
                <a:spcPts val="1200"/>
              </a:spcAft>
              <a:buSzPct val="100000"/>
              <a:buChar char="•"/>
            </a:pPr>
            <a:r>
              <a:rPr lang="en-US" sz="1700" dirty="0">
                <a:solidFill>
                  <a:srgbClr val="141B34"/>
                </a:solidFill>
              </a:rPr>
              <a:t>Medir cuántas sugerencias de la IA cambia el docente</a:t>
            </a:r>
            <a:endParaRPr lang="en-US" sz="1700" dirty="0"/>
          </a:p>
        </p:txBody>
      </p:sp>
      <p:sp>
        <p:nvSpPr>
          <p:cNvPr id="9" name="Pilot goal card"/>
          <p:cNvSpPr/>
          <p:nvPr/>
        </p:nvSpPr>
        <p:spPr>
          <a:xfrm>
            <a:off x="548640" y="5212080"/>
            <a:ext cx="11094415" cy="868680"/>
          </a:xfrm>
          <a:prstGeom prst="roundRect">
            <a:avLst>
              <a:gd name="adj" fmla="val 12632"/>
            </a:avLst>
          </a:prstGeom>
          <a:solidFill>
            <a:srgbClr val="FBF0D4"/>
          </a:solidFill>
          <a:ln w="12700">
            <a:solidFill>
              <a:srgbClr val="FBF0D4"/>
            </a:solidFill>
            <a:prstDash val="solid"/>
          </a:ln>
        </p:spPr>
      </p:sp>
      <p:sp>
        <p:nvSpPr>
          <p:cNvPr id="10" name="Pilot goal"/>
          <p:cNvSpPr txBox="1"/>
          <p:nvPr/>
        </p:nvSpPr>
        <p:spPr>
          <a:xfrm>
            <a:off x="822960" y="5257800"/>
            <a:ext cx="10545775" cy="777240"/>
          </a:xfrm>
          <a:prstGeom prst="rect">
            <a:avLst/>
          </a:prstGeom>
          <a:noFill/>
          <a:ln/>
        </p:spPr>
        <p:txBody>
          <a:bodyPr wrap="square" lIns="0" tIns="0" rIns="0" bIns="0" rtlCol="0" anchor="ctr"/>
          <a:lstStyle/>
          <a:p>
            <a:pPr indent="0" marL="0">
              <a:buNone/>
            </a:pPr>
            <a:r>
              <a:rPr lang="en-US" sz="1800" b="1" dirty="0">
                <a:solidFill>
                  <a:srgbClr val="141B34"/>
                </a:solidFill>
              </a:rPr>
              <a:t>Meta del piloto: </a:t>
            </a:r>
            <a:pPr indent="0" marL="0">
              <a:buNone/>
            </a:pPr>
            <a:r>
              <a:rPr lang="en-US" sz="1800" dirty="0">
                <a:solidFill>
                  <a:srgbClr val="141B34"/>
                </a:solidFill>
              </a:rPr>
              <a:t>que la IA sola saque menos de la mitad de la nota en la tarea rediseñada.</a:t>
            </a:r>
            <a:endParaRPr lang="en-US" sz="1800" dirty="0"/>
          </a:p>
        </p:txBody>
      </p:sp>
      <p:sp>
        <p:nvSpPr>
          <p:cNvPr id="25" name="Slide Number Placeholder 0"/>
          <p:cNvSpPr>
            <a:spLocks noGrp="1"/>
          </p:cNvSpPr>
          <p:nvPr>
            <p:ph type="sldNum" sz="quarter" idx="4294967295"/>
          </p:nvPr>
        </p:nvSpPr>
        <p:spPr>
          <a:xfrm>
            <a:off x="11277295" y="6355080"/>
            <a:ext cx="4114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4F556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502920"/>
            <a:ext cx="7315200" cy="365760"/>
          </a:xfrm>
          <a:prstGeom prst="rect">
            <a:avLst/>
          </a:prstGeom>
          <a:noFill/>
          <a:ln/>
        </p:spPr>
        <p:txBody>
          <a:bodyPr wrap="square" rtlCol="0"/>
          <a:lstStyle/>
          <a:p>
            <a:pPr indent="0" marL="0">
              <a:buNone/>
            </a:pPr>
            <a:r>
              <a:rPr lang="en-US" sz="1400" b="1" spc="200" kern="0" dirty="0">
                <a:solidFill>
                  <a:schemeClr val="accent2"/>
                </a:solidFill>
              </a:rPr>
              <a:t>EN 30 SEGUNDOS</a:t>
            </a:r>
            <a:endParaRPr lang="en-US" sz="1400" dirty="0"/>
          </a:p>
        </p:txBody>
      </p:sp>
      <p:sp>
        <p:nvSpPr>
          <p:cNvPr id="3" name="Elevator pitch"/>
          <p:cNvSpPr txBox="1"/>
          <p:nvPr/>
        </p:nvSpPr>
        <p:spPr>
          <a:xfrm>
            <a:off x="548640" y="1280160"/>
            <a:ext cx="10424160" cy="3108960"/>
          </a:xfrm>
          <a:prstGeom prst="rect">
            <a:avLst/>
          </a:prstGeom>
          <a:noFill/>
          <a:ln/>
        </p:spPr>
        <p:txBody>
          <a:bodyPr wrap="square" lIns="0" tIns="0" rIns="0" bIns="0" rtlCol="0" anchor="t"/>
          <a:lstStyle/>
          <a:p>
            <a:pPr indent="0" marL="0">
              <a:buNone/>
            </a:pPr>
            <a:r>
              <a:rPr lang="en-US" sz="3000" dirty="0">
                <a:solidFill>
                  <a:srgbClr val="E7ECFB"/>
                </a:solidFill>
              </a:rPr>
              <a:t>Para los docentes que ya no saben quién aprendió y quién le pidió la tarea a una IA, </a:t>
            </a:r>
            <a:pPr indent="0" marL="0">
              <a:buNone/>
            </a:pPr>
            <a:r>
              <a:rPr lang="en-US" sz="3000" b="1" dirty="0">
                <a:solidFill>
                  <a:srgbClr val="FFFFFF"/>
                </a:solidFill>
              </a:rPr>
              <a:t>Defiéndelo rediseña sus tareas para que la nota se gane explicando el propio trabajo. </a:t>
            </a:r>
            <a:pPr indent="0" marL="0">
              <a:buNone/>
            </a:pPr>
            <a:r>
              <a:rPr lang="en-US" sz="3000" dirty="0">
                <a:solidFill>
                  <a:srgbClr val="E7ECFB"/>
                </a:solidFill>
              </a:rPr>
              <a:t>A diferencia de los detectores, no acusa: pregunta. Y a diferencia de un examen oral, llega a toda la clase.</a:t>
            </a:r>
            <a:endParaRPr lang="en-US" sz="3000" dirty="0"/>
          </a:p>
        </p:txBody>
      </p:sp>
      <p:sp>
        <p:nvSpPr>
          <p:cNvPr id="4" name="Closing URL"/>
          <p:cNvSpPr txBox="1"/>
          <p:nvPr/>
        </p:nvSpPr>
        <p:spPr>
          <a:xfrm>
            <a:off x="548640" y="5120640"/>
            <a:ext cx="7315200" cy="548640"/>
          </a:xfrm>
          <a:prstGeom prst="rect">
            <a:avLst/>
          </a:prstGeom>
          <a:noFill/>
          <a:ln/>
        </p:spPr>
        <p:txBody>
          <a:bodyPr wrap="square" lIns="0" tIns="0" rIns="0" bIns="0" rtlCol="0" anchor="ctr"/>
          <a:lstStyle/>
          <a:p>
            <a:pPr indent="0" marL="0">
              <a:buNone/>
            </a:pPr>
            <a:r>
              <a:rPr lang="en-US" sz="2400" b="1" dirty="0">
                <a:solidFill>
                  <a:srgbClr val="E9B949"/>
                </a:solidFill>
              </a:rPr>
              <a:t>Pruébalo: defiendelo.vercel.app</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300" b="1" spc="200" kern="0" dirty="0">
                <a:solidFill>
                  <a:schemeClr val="accent1"/>
                </a:solidFill>
              </a:rPr>
              <a:t>RESPALDO · PREGUNTAS DEL JURADO</a:t>
            </a:r>
            <a:endParaRPr lang="en-US" sz="1300" dirty="0"/>
          </a:p>
        </p:txBody>
      </p:sp>
      <p:sp>
        <p:nvSpPr>
          <p:cNvPr id="3" name="Text 0"/>
          <p:cNvSpPr/>
          <p:nvPr>
            <p:ph idx="101" type="title" hasCustomPrompt="1"/>
          </p:nvPr>
        </p:nvSpPr>
        <p:spPr>
          <a:xfrm>
            <a:off x="548640" y="685800"/>
            <a:ext cx="11094415" cy="777240"/>
          </a:xfrm>
          <a:prstGeom prst="rect">
            <a:avLst/>
          </a:prstGeom>
          <a:noFill/>
          <a:ln/>
        </p:spPr>
        <p:txBody>
          <a:bodyPr wrap="square" lIns="0" tIns="0" rIns="0" bIns="0" rtlCol="0" anchor="t"/>
          <a:lstStyle/>
          <a:p>
            <a:pPr algn="l" indent="0" marL="0">
              <a:buNone/>
            </a:pPr>
            <a:r>
              <a:rPr lang="en-US" sz="3400" b="1" dirty="0">
                <a:solidFill>
                  <a:schemeClr val="tx1"/>
                </a:solidFill>
              </a:rPr>
              <a:t>Respuestas preparadas</a:t>
            </a:r>
            <a:endParaRPr lang="en-US" sz="3400" dirty="0"/>
          </a:p>
        </p:txBody>
      </p:sp>
      <p:sp>
        <p:nvSpPr>
          <p:cNvPr id="4" name="Text 0"/>
          <p:cNvSpPr/>
          <p:nvPr>
            <p:ph idx="102" type="body" hasCustomPrompt="1"/>
          </p:nvPr>
        </p:nvSpPr>
        <p:spPr>
          <a:xfrm>
            <a:off x="548640" y="6355080"/>
            <a:ext cx="10180015" cy="320040"/>
          </a:xfrm>
          <a:prstGeom prst="rect">
            <a:avLst/>
          </a:prstGeom>
          <a:noFill/>
          <a:ln/>
        </p:spPr>
        <p:txBody>
          <a:bodyPr wrap="square" lIns="0" tIns="0" rIns="0" bIns="0" rtlCol="0"/>
          <a:lstStyle/>
          <a:p>
            <a:pPr indent="0" marL="0">
              <a:buNone/>
            </a:pPr>
            <a:r>
              <a:rPr lang="en-US" sz="1000" dirty="0">
                <a:solidFill>
                  <a:schemeClr val="accent4"/>
                </a:solidFill>
              </a:rPr>
              <a:t>Para los 3 minutos de preguntas. No se presenta en el pitch.</a:t>
            </a:r>
            <a:endParaRPr lang="en-US" sz="1000" dirty="0"/>
          </a:p>
        </p:txBody>
      </p:sp>
      <p:graphicFrame>
        <p:nvGraphicFramePr>
          <p:cNvPr id="12" name="Jury Q&amp;A table"/>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3931920"/>
                <a:gridCol w="7159752"/>
              </a:tblGrid>
              <a:tr h="777240">
                <a:tc>
                  <a:txBody>
                    <a:bodyPr/>
                    <a:lstStyle/>
                    <a:p>
                      <a:pPr indent="0" marL="0">
                        <a:buNone/>
                      </a:pPr>
                      <a:r>
                        <a:rPr lang="en-US" sz="1600" b="1" dirty="0">
                          <a:solidFill>
                            <a:srgbClr val="141B34"/>
                          </a:solidFill>
                          <a:latin typeface="Calibri" pitchFamily="34" charset="0"/>
                          <a:ea typeface="Calibri" pitchFamily="34" charset="-122"/>
                          <a:cs typeface="Calibri" pitchFamily="34" charset="-120"/>
                        </a:rPr>
                        <a:t>¿No es un detector disfrazado?</a:t>
                      </a:r>
                      <a:endParaRPr lang="en-US" sz="1600" dirty="0">
                        <a:latin typeface="Calibri" charset="0"/>
                        <a:ea typeface="Calibri" charset="0"/>
                        <a:cs typeface="Calibri" charset="0"/>
                      </a:endParaRPr>
                    </a:p>
                  </a:txBody>
                  <a:tcPr marL="91440" marR="91440" marT="45720" marB="45720" anchor="ctr">
                    <a:lnL w="12700" cap="flat" cmpd="sng" algn="ctr">
                      <a:solidFill>
                        <a:srgbClr val="D9DCE5"/>
                      </a:solidFill>
                      <a:prstDash val="solid"/>
                      <a:round/>
                      <a:headEnd type="none" w="med" len="med"/>
                      <a:tailEnd type="none" w="med" len="med"/>
                    </a:lnL>
                    <a:lnR w="12700" cap="flat" cmpd="sng" algn="ctr">
                      <a:solidFill>
                        <a:srgbClr val="D9DCE5"/>
                      </a:solidFill>
                      <a:prstDash val="solid"/>
                      <a:round/>
                      <a:headEnd type="none" w="med" len="med"/>
                      <a:tailEnd type="none" w="med" len="med"/>
                    </a:lnR>
                    <a:lnT w="12700" cap="flat" cmpd="sng" algn="ctr">
                      <a:solidFill>
                        <a:srgbClr val="D9DCE5"/>
                      </a:solidFill>
                      <a:prstDash val="solid"/>
                      <a:round/>
                      <a:headEnd type="none" w="med" len="med"/>
                      <a:tailEnd type="none" w="med" len="med"/>
                    </a:lnT>
                    <a:lnB w="12700" cap="flat" cmpd="sng" algn="ctr">
                      <a:solidFill>
                        <a:srgbClr val="D9DCE5"/>
                      </a:solidFill>
                      <a:prstDash val="solid"/>
                      <a:round/>
                      <a:headEnd type="none" w="med" len="med"/>
                      <a:tailEnd type="none" w="med" len="med"/>
                    </a:lnB>
                  </a:tcPr>
                </a:tc>
                <a:tc>
                  <a:txBody>
                    <a:bodyPr/>
                    <a:lstStyle/>
                    <a:p>
                      <a:pPr indent="0" marL="0">
                        <a:buNone/>
                      </a:pPr>
                      <a:r>
                        <a:rPr lang="en-US" sz="1600" dirty="0">
                          <a:solidFill>
                            <a:srgbClr val="4F5568"/>
                          </a:solidFill>
                          <a:latin typeface="Calibri" pitchFamily="34" charset="0"/>
                          <a:ea typeface="Calibri" pitchFamily="34" charset="-122"/>
                          <a:cs typeface="Calibri" pitchFamily="34" charset="-120"/>
                        </a:rPr>
                        <a:t>Mide comprensión. "No supo explicar" es evidencia formativa, no una acusación.</a:t>
                      </a:r>
                      <a:endParaRPr lang="en-US" sz="1600" dirty="0">
                        <a:latin typeface="Calibri" charset="0"/>
                        <a:ea typeface="Calibri" charset="0"/>
                        <a:cs typeface="Calibri" charset="0"/>
                      </a:endParaRPr>
                    </a:p>
                  </a:txBody>
                  <a:tcPr marL="91440" marR="91440" marT="45720" marB="45720" anchor="ctr">
                    <a:lnL w="12700" cap="flat" cmpd="sng" algn="ctr">
                      <a:solidFill>
                        <a:srgbClr val="D9DCE5"/>
                      </a:solidFill>
                      <a:prstDash val="solid"/>
                      <a:round/>
                      <a:headEnd type="none" w="med" len="med"/>
                      <a:tailEnd type="none" w="med" len="med"/>
                    </a:lnL>
                    <a:lnR w="12700" cap="flat" cmpd="sng" algn="ctr">
                      <a:solidFill>
                        <a:srgbClr val="D9DCE5"/>
                      </a:solidFill>
                      <a:prstDash val="solid"/>
                      <a:round/>
                      <a:headEnd type="none" w="med" len="med"/>
                      <a:tailEnd type="none" w="med" len="med"/>
                    </a:lnR>
                    <a:lnT w="12700" cap="flat" cmpd="sng" algn="ctr">
                      <a:solidFill>
                        <a:srgbClr val="D9DCE5"/>
                      </a:solidFill>
                      <a:prstDash val="solid"/>
                      <a:round/>
                      <a:headEnd type="none" w="med" len="med"/>
                      <a:tailEnd type="none" w="med" len="med"/>
                    </a:lnT>
                    <a:lnB w="12700" cap="flat" cmpd="sng" algn="ctr">
                      <a:solidFill>
                        <a:srgbClr val="D9DCE5"/>
                      </a:solidFill>
                      <a:prstDash val="solid"/>
                      <a:round/>
                      <a:headEnd type="none" w="med" len="med"/>
                      <a:tailEnd type="none" w="med" len="med"/>
                    </a:lnB>
                  </a:tcPr>
                </a:tc>
              </a:tr>
              <a:tr h="777240">
                <a:tc>
                  <a:txBody>
                    <a:bodyPr/>
                    <a:lstStyle/>
                    <a:p>
                      <a:pPr indent="0" marL="0">
                        <a:buNone/>
                      </a:pPr>
                      <a:r>
                        <a:rPr lang="en-US" sz="1600" b="1" dirty="0">
                          <a:solidFill>
                            <a:srgbClr val="141B34"/>
                          </a:solidFill>
                          <a:latin typeface="Calibri" pitchFamily="34" charset="0"/>
                          <a:ea typeface="Calibri" pitchFamily="34" charset="-122"/>
                          <a:cs typeface="Calibri" pitchFamily="34" charset="-120"/>
                        </a:rPr>
                        <a:t>¿Y si responde con ChatGPT?</a:t>
                      </a:r>
                      <a:endParaRPr lang="en-US" sz="1600" dirty="0">
                        <a:latin typeface="Calibri" charset="0"/>
                        <a:ea typeface="Calibri" charset="0"/>
                        <a:cs typeface="Calibri" charset="0"/>
                      </a:endParaRPr>
                    </a:p>
                  </a:txBody>
                  <a:tcPr marL="91440" marR="91440" marT="45720" marB="45720" anchor="ctr">
                    <a:lnL w="12700" cap="flat" cmpd="sng" algn="ctr">
                      <a:solidFill>
                        <a:srgbClr val="D9DCE5"/>
                      </a:solidFill>
                      <a:prstDash val="solid"/>
                      <a:round/>
                      <a:headEnd type="none" w="med" len="med"/>
                      <a:tailEnd type="none" w="med" len="med"/>
                    </a:lnL>
                    <a:lnR w="12700" cap="flat" cmpd="sng" algn="ctr">
                      <a:solidFill>
                        <a:srgbClr val="D9DCE5"/>
                      </a:solidFill>
                      <a:prstDash val="solid"/>
                      <a:round/>
                      <a:headEnd type="none" w="med" len="med"/>
                      <a:tailEnd type="none" w="med" len="med"/>
                    </a:lnR>
                    <a:lnT w="12700" cap="flat" cmpd="sng" algn="ctr">
                      <a:solidFill>
                        <a:srgbClr val="D9DCE5"/>
                      </a:solidFill>
                      <a:prstDash val="solid"/>
                      <a:round/>
                      <a:headEnd type="none" w="med" len="med"/>
                      <a:tailEnd type="none" w="med" len="med"/>
                    </a:lnT>
                    <a:lnB w="12700" cap="flat" cmpd="sng" algn="ctr">
                      <a:solidFill>
                        <a:srgbClr val="D9DCE5"/>
                      </a:solidFill>
                      <a:prstDash val="solid"/>
                      <a:round/>
                      <a:headEnd type="none" w="med" len="med"/>
                      <a:tailEnd type="none" w="med" len="med"/>
                    </a:lnB>
                  </a:tcPr>
                </a:tc>
                <a:tc>
                  <a:txBody>
                    <a:bodyPr/>
                    <a:lstStyle/>
                    <a:p>
                      <a:pPr indent="0" marL="0">
                        <a:buNone/>
                      </a:pPr>
                      <a:r>
                        <a:rPr lang="en-US" sz="1600" dirty="0">
                          <a:solidFill>
                            <a:srgbClr val="4F5568"/>
                          </a:solidFill>
                          <a:latin typeface="Calibri" pitchFamily="34" charset="0"/>
                          <a:ea typeface="Calibri" pitchFamily="34" charset="-122"/>
                          <a:cs typeface="Calibri" pitchFamily="34" charset="-120"/>
                        </a:rPr>
                        <a:t>Las preguntas son sobre sus propias decisiones, y la defensa puede ser en clase o en papel.</a:t>
                      </a:r>
                      <a:endParaRPr lang="en-US" sz="1600" dirty="0">
                        <a:latin typeface="Calibri" charset="0"/>
                        <a:ea typeface="Calibri" charset="0"/>
                        <a:cs typeface="Calibri" charset="0"/>
                      </a:endParaRPr>
                    </a:p>
                  </a:txBody>
                  <a:tcPr marL="91440" marR="91440" marT="45720" marB="45720" anchor="ctr">
                    <a:lnL w="12700" cap="flat" cmpd="sng" algn="ctr">
                      <a:solidFill>
                        <a:srgbClr val="D9DCE5"/>
                      </a:solidFill>
                      <a:prstDash val="solid"/>
                      <a:round/>
                      <a:headEnd type="none" w="med" len="med"/>
                      <a:tailEnd type="none" w="med" len="med"/>
                    </a:lnL>
                    <a:lnR w="12700" cap="flat" cmpd="sng" algn="ctr">
                      <a:solidFill>
                        <a:srgbClr val="D9DCE5"/>
                      </a:solidFill>
                      <a:prstDash val="solid"/>
                      <a:round/>
                      <a:headEnd type="none" w="med" len="med"/>
                      <a:tailEnd type="none" w="med" len="med"/>
                    </a:lnR>
                    <a:lnT w="12700" cap="flat" cmpd="sng" algn="ctr">
                      <a:solidFill>
                        <a:srgbClr val="D9DCE5"/>
                      </a:solidFill>
                      <a:prstDash val="solid"/>
                      <a:round/>
                      <a:headEnd type="none" w="med" len="med"/>
                      <a:tailEnd type="none" w="med" len="med"/>
                    </a:lnT>
                    <a:lnB w="12700" cap="flat" cmpd="sng" algn="ctr">
                      <a:solidFill>
                        <a:srgbClr val="D9DCE5"/>
                      </a:solidFill>
                      <a:prstDash val="solid"/>
                      <a:round/>
                      <a:headEnd type="none" w="med" len="med"/>
                      <a:tailEnd type="none" w="med" len="med"/>
                    </a:lnB>
                  </a:tcPr>
                </a:tc>
              </a:tr>
              <a:tr h="777240">
                <a:tc>
                  <a:txBody>
                    <a:bodyPr/>
                    <a:lstStyle/>
                    <a:p>
                      <a:pPr indent="0" marL="0">
                        <a:buNone/>
                      </a:pPr>
                      <a:r>
                        <a:rPr lang="en-US" sz="1600" b="1" dirty="0">
                          <a:solidFill>
                            <a:srgbClr val="141B34"/>
                          </a:solidFill>
                          <a:latin typeface="Calibri" pitchFamily="34" charset="0"/>
                          <a:ea typeface="Calibri" pitchFamily="34" charset="-122"/>
                          <a:cs typeface="Calibri" pitchFamily="34" charset="-120"/>
                        </a:rPr>
                        <a:t>¿Dónde ahorra tiempo el docente?</a:t>
                      </a:r>
                      <a:endParaRPr lang="en-US" sz="1600" dirty="0">
                        <a:latin typeface="Calibri" charset="0"/>
                        <a:ea typeface="Calibri" charset="0"/>
                        <a:cs typeface="Calibri" charset="0"/>
                      </a:endParaRPr>
                    </a:p>
                  </a:txBody>
                  <a:tcPr marL="91440" marR="91440" marT="45720" marB="45720" anchor="ctr">
                    <a:lnL w="12700" cap="flat" cmpd="sng" algn="ctr">
                      <a:solidFill>
                        <a:srgbClr val="D9DCE5"/>
                      </a:solidFill>
                      <a:prstDash val="solid"/>
                      <a:round/>
                      <a:headEnd type="none" w="med" len="med"/>
                      <a:tailEnd type="none" w="med" len="med"/>
                    </a:lnL>
                    <a:lnR w="12700" cap="flat" cmpd="sng" algn="ctr">
                      <a:solidFill>
                        <a:srgbClr val="D9DCE5"/>
                      </a:solidFill>
                      <a:prstDash val="solid"/>
                      <a:round/>
                      <a:headEnd type="none" w="med" len="med"/>
                      <a:tailEnd type="none" w="med" len="med"/>
                    </a:lnR>
                    <a:lnT w="12700" cap="flat" cmpd="sng" algn="ctr">
                      <a:solidFill>
                        <a:srgbClr val="D9DCE5"/>
                      </a:solidFill>
                      <a:prstDash val="solid"/>
                      <a:round/>
                      <a:headEnd type="none" w="med" len="med"/>
                      <a:tailEnd type="none" w="med" len="med"/>
                    </a:lnT>
                    <a:lnB w="12700" cap="flat" cmpd="sng" algn="ctr">
                      <a:solidFill>
                        <a:srgbClr val="D9DCE5"/>
                      </a:solidFill>
                      <a:prstDash val="solid"/>
                      <a:round/>
                      <a:headEnd type="none" w="med" len="med"/>
                      <a:tailEnd type="none" w="med" len="med"/>
                    </a:lnB>
                  </a:tcPr>
                </a:tc>
                <a:tc>
                  <a:txBody>
                    <a:bodyPr/>
                    <a:lstStyle/>
                    <a:p>
                      <a:pPr indent="0" marL="0">
                        <a:buNone/>
                      </a:pPr>
                      <a:r>
                        <a:rPr lang="en-US" sz="1600" dirty="0">
                          <a:solidFill>
                            <a:srgbClr val="4F5568"/>
                          </a:solidFill>
                          <a:latin typeface="Calibri" pitchFamily="34" charset="0"/>
                          <a:ea typeface="Calibri" pitchFamily="34" charset="-122"/>
                          <a:cs typeface="Calibri" pitchFamily="34" charset="-120"/>
                        </a:rPr>
                        <a:t>Revisa la evidencia por criterio en vez de tomar 150 orales. No prometemos un % sin piloto.</a:t>
                      </a:r>
                      <a:endParaRPr lang="en-US" sz="1600" dirty="0">
                        <a:latin typeface="Calibri" charset="0"/>
                        <a:ea typeface="Calibri" charset="0"/>
                        <a:cs typeface="Calibri" charset="0"/>
                      </a:endParaRPr>
                    </a:p>
                  </a:txBody>
                  <a:tcPr marL="91440" marR="91440" marT="45720" marB="45720" anchor="ctr">
                    <a:lnL w="12700" cap="flat" cmpd="sng" algn="ctr">
                      <a:solidFill>
                        <a:srgbClr val="D9DCE5"/>
                      </a:solidFill>
                      <a:prstDash val="solid"/>
                      <a:round/>
                      <a:headEnd type="none" w="med" len="med"/>
                      <a:tailEnd type="none" w="med" len="med"/>
                    </a:lnL>
                    <a:lnR w="12700" cap="flat" cmpd="sng" algn="ctr">
                      <a:solidFill>
                        <a:srgbClr val="D9DCE5"/>
                      </a:solidFill>
                      <a:prstDash val="solid"/>
                      <a:round/>
                      <a:headEnd type="none" w="med" len="med"/>
                      <a:tailEnd type="none" w="med" len="med"/>
                    </a:lnR>
                    <a:lnT w="12700" cap="flat" cmpd="sng" algn="ctr">
                      <a:solidFill>
                        <a:srgbClr val="D9DCE5"/>
                      </a:solidFill>
                      <a:prstDash val="solid"/>
                      <a:round/>
                      <a:headEnd type="none" w="med" len="med"/>
                      <a:tailEnd type="none" w="med" len="med"/>
                    </a:lnT>
                    <a:lnB w="12700" cap="flat" cmpd="sng" algn="ctr">
                      <a:solidFill>
                        <a:srgbClr val="D9DCE5"/>
                      </a:solidFill>
                      <a:prstDash val="solid"/>
                      <a:round/>
                      <a:headEnd type="none" w="med" len="med"/>
                      <a:tailEnd type="none" w="med" len="med"/>
                    </a:lnB>
                  </a:tcPr>
                </a:tc>
              </a:tr>
              <a:tr h="777240">
                <a:tc>
                  <a:txBody>
                    <a:bodyPr/>
                    <a:lstStyle/>
                    <a:p>
                      <a:pPr indent="0" marL="0">
                        <a:buNone/>
                      </a:pPr>
                      <a:r>
                        <a:rPr lang="en-US" sz="1600" b="1" dirty="0">
                          <a:solidFill>
                            <a:srgbClr val="141B34"/>
                          </a:solidFill>
                          <a:latin typeface="Calibri" pitchFamily="34" charset="0"/>
                          <a:ea typeface="Calibri" pitchFamily="34" charset="-122"/>
                          <a:cs typeface="Calibri" pitchFamily="34" charset="-120"/>
                        </a:rPr>
                        <a:t>¿Es legal evaluar a menores con IA?</a:t>
                      </a:r>
                      <a:endParaRPr lang="en-US" sz="1600" dirty="0">
                        <a:latin typeface="Calibri" charset="0"/>
                        <a:ea typeface="Calibri" charset="0"/>
                        <a:cs typeface="Calibri" charset="0"/>
                      </a:endParaRPr>
                    </a:p>
                  </a:txBody>
                  <a:tcPr marL="91440" marR="91440" marT="45720" marB="45720" anchor="ctr">
                    <a:lnL w="12700" cap="flat" cmpd="sng" algn="ctr">
                      <a:solidFill>
                        <a:srgbClr val="D9DCE5"/>
                      </a:solidFill>
                      <a:prstDash val="solid"/>
                      <a:round/>
                      <a:headEnd type="none" w="med" len="med"/>
                      <a:tailEnd type="none" w="med" len="med"/>
                    </a:lnL>
                    <a:lnR w="12700" cap="flat" cmpd="sng" algn="ctr">
                      <a:solidFill>
                        <a:srgbClr val="D9DCE5"/>
                      </a:solidFill>
                      <a:prstDash val="solid"/>
                      <a:round/>
                      <a:headEnd type="none" w="med" len="med"/>
                      <a:tailEnd type="none" w="med" len="med"/>
                    </a:lnR>
                    <a:lnT w="12700" cap="flat" cmpd="sng" algn="ctr">
                      <a:solidFill>
                        <a:srgbClr val="D9DCE5"/>
                      </a:solidFill>
                      <a:prstDash val="solid"/>
                      <a:round/>
                      <a:headEnd type="none" w="med" len="med"/>
                      <a:tailEnd type="none" w="med" len="med"/>
                    </a:lnT>
                    <a:lnB w="12700" cap="flat" cmpd="sng" algn="ctr">
                      <a:solidFill>
                        <a:srgbClr val="D9DCE5"/>
                      </a:solidFill>
                      <a:prstDash val="solid"/>
                      <a:round/>
                      <a:headEnd type="none" w="med" len="med"/>
                      <a:tailEnd type="none" w="med" len="med"/>
                    </a:lnB>
                  </a:tcPr>
                </a:tc>
                <a:tc>
                  <a:txBody>
                    <a:bodyPr/>
                    <a:lstStyle/>
                    <a:p>
                      <a:pPr indent="0" marL="0">
                        <a:buNone/>
                      </a:pPr>
                      <a:r>
                        <a:rPr lang="en-US" sz="1600" dirty="0">
                          <a:solidFill>
                            <a:srgbClr val="4F5568"/>
                          </a:solidFill>
                          <a:latin typeface="Calibri" pitchFamily="34" charset="0"/>
                          <a:ea typeface="Calibri" pitchFamily="34" charset="-122"/>
                          <a:cs typeface="Calibri" pitchFamily="34" charset="-120"/>
                        </a:rPr>
                        <a:t>La IA solo sugiere; el docente decide. Encaja en la excepción del art. 24.1 b) del D.S. 115-2025-PCM.</a:t>
                      </a:r>
                      <a:endParaRPr lang="en-US" sz="1600" dirty="0">
                        <a:latin typeface="Calibri" charset="0"/>
                        <a:ea typeface="Calibri" charset="0"/>
                        <a:cs typeface="Calibri" charset="0"/>
                      </a:endParaRPr>
                    </a:p>
                  </a:txBody>
                  <a:tcPr marL="91440" marR="91440" marT="45720" marB="45720" anchor="ctr">
                    <a:lnL w="12700" cap="flat" cmpd="sng" algn="ctr">
                      <a:solidFill>
                        <a:srgbClr val="D9DCE5"/>
                      </a:solidFill>
                      <a:prstDash val="solid"/>
                      <a:round/>
                      <a:headEnd type="none" w="med" len="med"/>
                      <a:tailEnd type="none" w="med" len="med"/>
                    </a:lnL>
                    <a:lnR w="12700" cap="flat" cmpd="sng" algn="ctr">
                      <a:solidFill>
                        <a:srgbClr val="D9DCE5"/>
                      </a:solidFill>
                      <a:prstDash val="solid"/>
                      <a:round/>
                      <a:headEnd type="none" w="med" len="med"/>
                      <a:tailEnd type="none" w="med" len="med"/>
                    </a:lnR>
                    <a:lnT w="12700" cap="flat" cmpd="sng" algn="ctr">
                      <a:solidFill>
                        <a:srgbClr val="D9DCE5"/>
                      </a:solidFill>
                      <a:prstDash val="solid"/>
                      <a:round/>
                      <a:headEnd type="none" w="med" len="med"/>
                      <a:tailEnd type="none" w="med" len="med"/>
                    </a:lnT>
                    <a:lnB w="12700" cap="flat" cmpd="sng" algn="ctr">
                      <a:solidFill>
                        <a:srgbClr val="D9DCE5"/>
                      </a:solidFill>
                      <a:prstDash val="solid"/>
                      <a:round/>
                      <a:headEnd type="none" w="med" len="med"/>
                      <a:tailEnd type="none" w="med" len="med"/>
                    </a:lnB>
                  </a:tcPr>
                </a:tc>
              </a:tr>
              <a:tr h="777240">
                <a:tc>
                  <a:txBody>
                    <a:bodyPr/>
                    <a:lstStyle/>
                    <a:p>
                      <a:pPr indent="0" marL="0">
                        <a:buNone/>
                      </a:pPr>
                      <a:r>
                        <a:rPr lang="en-US" sz="1600" b="1" dirty="0">
                          <a:solidFill>
                            <a:srgbClr val="141B34"/>
                          </a:solidFill>
                          <a:latin typeface="Calibri" pitchFamily="34" charset="0"/>
                          <a:ea typeface="Calibri" pitchFamily="34" charset="-122"/>
                          <a:cs typeface="Calibri" pitchFamily="34" charset="-120"/>
                        </a:rPr>
                        <a:t>¿Y la ansiedad o la tartamudez?</a:t>
                      </a:r>
                      <a:endParaRPr lang="en-US" sz="1600" dirty="0">
                        <a:latin typeface="Calibri" charset="0"/>
                        <a:ea typeface="Calibri" charset="0"/>
                        <a:cs typeface="Calibri" charset="0"/>
                      </a:endParaRPr>
                    </a:p>
                  </a:txBody>
                  <a:tcPr marL="91440" marR="91440" marT="45720" marB="45720" anchor="ctr">
                    <a:lnL w="12700" cap="flat" cmpd="sng" algn="ctr">
                      <a:solidFill>
                        <a:srgbClr val="D9DCE5"/>
                      </a:solidFill>
                      <a:prstDash val="solid"/>
                      <a:round/>
                      <a:headEnd type="none" w="med" len="med"/>
                      <a:tailEnd type="none" w="med" len="med"/>
                    </a:lnL>
                    <a:lnR w="12700" cap="flat" cmpd="sng" algn="ctr">
                      <a:solidFill>
                        <a:srgbClr val="D9DCE5"/>
                      </a:solidFill>
                      <a:prstDash val="solid"/>
                      <a:round/>
                      <a:headEnd type="none" w="med" len="med"/>
                      <a:tailEnd type="none" w="med" len="med"/>
                    </a:lnR>
                    <a:lnT w="12700" cap="flat" cmpd="sng" algn="ctr">
                      <a:solidFill>
                        <a:srgbClr val="D9DCE5"/>
                      </a:solidFill>
                      <a:prstDash val="solid"/>
                      <a:round/>
                      <a:headEnd type="none" w="med" len="med"/>
                      <a:tailEnd type="none" w="med" len="med"/>
                    </a:lnT>
                    <a:lnB w="12700" cap="flat" cmpd="sng" algn="ctr">
                      <a:solidFill>
                        <a:srgbClr val="D9DCE5"/>
                      </a:solidFill>
                      <a:prstDash val="solid"/>
                      <a:round/>
                      <a:headEnd type="none" w="med" len="med"/>
                      <a:tailEnd type="none" w="med" len="med"/>
                    </a:lnB>
                  </a:tcPr>
                </a:tc>
                <a:tc>
                  <a:txBody>
                    <a:bodyPr/>
                    <a:lstStyle/>
                    <a:p>
                      <a:pPr indent="0" marL="0">
                        <a:buNone/>
                      </a:pPr>
                      <a:r>
                        <a:rPr lang="en-US" sz="1600" dirty="0">
                          <a:solidFill>
                            <a:srgbClr val="4F5568"/>
                          </a:solidFill>
                          <a:latin typeface="Calibri" pitchFamily="34" charset="0"/>
                          <a:ea typeface="Calibri" pitchFamily="34" charset="-122"/>
                          <a:cs typeface="Calibri" pitchFamily="34" charset="-120"/>
                        </a:rPr>
                        <a:t>Hay tres formas de defender, incluida la escrita; no procesa voz, rostro ni emociones.</a:t>
                      </a:r>
                      <a:endParaRPr lang="en-US" sz="1600" dirty="0">
                        <a:latin typeface="Calibri" charset="0"/>
                        <a:ea typeface="Calibri" charset="0"/>
                        <a:cs typeface="Calibri" charset="0"/>
                      </a:endParaRPr>
                    </a:p>
                  </a:txBody>
                  <a:tcPr marL="91440" marR="91440" marT="45720" marB="45720" anchor="ctr">
                    <a:lnL w="12700" cap="flat" cmpd="sng" algn="ctr">
                      <a:solidFill>
                        <a:srgbClr val="D9DCE5"/>
                      </a:solidFill>
                      <a:prstDash val="solid"/>
                      <a:round/>
                      <a:headEnd type="none" w="med" len="med"/>
                      <a:tailEnd type="none" w="med" len="med"/>
                    </a:lnL>
                    <a:lnR w="12700" cap="flat" cmpd="sng" algn="ctr">
                      <a:solidFill>
                        <a:srgbClr val="D9DCE5"/>
                      </a:solidFill>
                      <a:prstDash val="solid"/>
                      <a:round/>
                      <a:headEnd type="none" w="med" len="med"/>
                      <a:tailEnd type="none" w="med" len="med"/>
                    </a:lnR>
                    <a:lnT w="12700" cap="flat" cmpd="sng" algn="ctr">
                      <a:solidFill>
                        <a:srgbClr val="D9DCE5"/>
                      </a:solidFill>
                      <a:prstDash val="solid"/>
                      <a:round/>
                      <a:headEnd type="none" w="med" len="med"/>
                      <a:tailEnd type="none" w="med" len="med"/>
                    </a:lnT>
                    <a:lnB w="12700" cap="flat" cmpd="sng" algn="ctr">
                      <a:solidFill>
                        <a:srgbClr val="D9DCE5"/>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77295" y="6355080"/>
            <a:ext cx="4114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4F5568"/>
                </a:solidFill>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Defiendelo">
  <a:themeElements>
    <a:clrScheme name="Defiendelo">
      <a:dk1>
        <a:srgbClr val="141B34"/>
      </a:dk1>
      <a:lt1>
        <a:srgbClr val="FFFFFF"/>
      </a:lt1>
      <a:dk2>
        <a:srgbClr val="1B2F8F"/>
      </a:dk2>
      <a:lt2>
        <a:srgbClr val="F3F4F8"/>
      </a:lt2>
      <a:accent1>
        <a:srgbClr val="2340B8"/>
      </a:accent1>
      <a:accent2>
        <a:srgbClr val="E9B949"/>
      </a:accent2>
      <a:accent3>
        <a:srgbClr val="B8461F"/>
      </a:accent3>
      <a:accent4>
        <a:srgbClr val="4F5568"/>
      </a:accent4>
      <a:accent5>
        <a:srgbClr val="E7ECFB"/>
      </a:accent5>
      <a:accent6>
        <a:srgbClr val="FBF0D4"/>
      </a:accent6>
      <a:hlink>
        <a:srgbClr val="2340B8"/>
      </a:hlink>
      <a:folHlink>
        <a:srgbClr val="1B2F8F"/>
      </a:folHlink>
    </a:clrScheme>
    <a:fontScheme name="Defiendelo">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Defiéndelo · Pitch DSC HACK 2026</dc:title>
  <dc:subject>PptxGenJS Presentation</dc:subject>
  <dc:creator>Equipo Defiéndelo</dc:creator>
  <cp:lastModifiedBy>Equipo Defiéndelo</cp:lastModifiedBy>
  <cp:revision>1</cp:revision>
  <dcterms:created xsi:type="dcterms:W3CDTF">2026-10-31T21:41:56Z</dcterms:created>
  <dcterms:modified xsi:type="dcterms:W3CDTF">2026-10-31T21:41:56Z</dcterms:modified>
</cp:coreProperties>
</file>