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5bc3c4e-e38d-2d7b-7a61-1766f6e41d76}">
          <p14:sldIdLst>
            <p14:sldId id="256"/>
            <p14:sldId id="257"/>
          </p14:sldIdLst>
        </p14:section>
        <p14:section name="Docente: rediseño" id="{5fff9785-7015-f170-d021-a572b1a9bc1e}">
          <p14:sldIdLst>
            <p14:sldId id="258"/>
            <p14:sldId id="259"/>
            <p14:sldId id="260"/>
          </p14:sldIdLst>
        </p14:section>
        <p14:section name="Alumno: entrega y defensa" id="{ba34607d-854d-6d02-8d8c-f1c7a44f2fa9}">
          <p14:sldIdLst>
            <p14:sldId id="261"/>
            <p14:sldId id="262"/>
            <p14:sldId id="263"/>
          </p14:sldIdLst>
        </p14:section>
        <p14:section name="Docente: a quién atender" id="{7b55b4f9-8c90-1581-64de-690a2d650392}">
          <p14:sldIdLst>
            <p14:sldId id="264"/>
            <p14:sldId id="265"/>
            <p14:sldId id="266"/>
          </p14:sldIdLst>
        </p14:section>
        <p14:section name="Cierre" id="{3ceb8c47-b693-62fb-e92e-2838a26c60bb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Defiéndelo deja usar IA en las tareas, pero la nota se gana defendiendo lo entregado. Todas las capturas son de una ejecución real del prototipo.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ciclo completo: rediseñar, probar con la IA sola, que el alumno entregue y defienda, y que el docente vea a quién atender y qué reforzar.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docente parte de su propia tarea. Aquí usamos la tarea de ejemplo: búsqueda en una lista ordenada, en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política de IA queda explícita y la rúbrica separa lo que se ve en el papel de lo que solo se comprueba preguntándole al alumno.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real de esta ejecución: 35% en la original y 40% en la rediseñada. El valor está en que la herramienta señala exactamente qué criterios siguen siendo delegables. En una ejecución anterior el resultado fue 100% contra 20%.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entrega su búsqueda binaria con comentarios sobre sus decisiones, por ejemplo por qué usó división entera.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preguntas citan el código de Ana: su comentario sobre // y su decisión de descartar la versión recursiva. Quien solo pegó la salida de una IA no puede responderlas.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defendió bien la verificación, pero no la modificación en vivo. Una regla del dominio asegura que un 'no sé' nunca puntúe en la defensa, aunque el modelo se equivoque.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triaje convierte la defensa en una lista accionable: a quién llamar primero. Debajo, el enlace para los alumnos.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ataca la brecha docente: el profesor no tiene que leer cada defensa para saber qué re-enseñar.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banco vivo es la visión de crecimiento. En la demo es una maqueta, no funcionalidad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hexagonal: el dominio no depende del proveedor de IA. Las reglas críticas viven en el dominio y tienen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problema no es que el alumno use IA, sino que la nota ya no mide lo que entiende. Próximos pasos de validación y despliegue.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P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47548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47548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377440"/>
            <a:ext cx="4572000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Defiéndelo  |  DSC HACK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Defiéndelo  |  DSC HACK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Defiéndelo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</a:rPr>
              <a:t>Que la nota mida lo que entendiste, no lo que escribió la IA.</a:t>
            </a:r>
            <a:endParaRPr lang="en-US" sz="2600" dirty="0"/>
          </a:p>
        </p:txBody>
      </p:sp>
      <p:sp>
        <p:nvSpPr>
          <p:cNvPr id="4" name="Event pill"/>
          <p:cNvSpPr/>
          <p:nvPr/>
        </p:nvSpPr>
        <p:spPr>
          <a:xfrm>
            <a:off x="731520" y="4206240"/>
            <a:ext cx="42062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06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DSC HACK 2026: Educación 2036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029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Recorrido por la demo, con capturas de una ejecución real con IA (GLM 5.3 Flash vía OpenRouter).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Cómo funciona: cuatro pasos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54864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" name="Step number 1"/>
          <p:cNvSpPr/>
          <p:nvPr/>
        </p:nvSpPr>
        <p:spPr>
          <a:xfrm>
            <a:off x="822960" y="214884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Rediseña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El docente pega su tarea. La IA la convierte en una tarea pro-IA, con criterios de juicio.</a:t>
            </a:r>
            <a:endParaRPr lang="en-US" sz="1500" dirty="0"/>
          </a:p>
        </p:txBody>
      </p:sp>
      <p:sp>
        <p:nvSpPr>
          <p:cNvPr id="8" name="Step card 2"/>
          <p:cNvSpPr/>
          <p:nvPr/>
        </p:nvSpPr>
        <p:spPr>
          <a:xfrm>
            <a:off x="3401568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Step number 2"/>
          <p:cNvSpPr/>
          <p:nvPr/>
        </p:nvSpPr>
        <p:spPr>
          <a:xfrm>
            <a:off x="3675888" y="214884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75888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3017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Pone a prueba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38404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Una IA resuelve la tarea sola. Se mide cuánta nota saca sin ningún alumno detrás.</a:t>
            </a:r>
            <a:endParaRPr lang="en-US" sz="1500" dirty="0"/>
          </a:p>
        </p:txBody>
      </p:sp>
      <p:sp>
        <p:nvSpPr>
          <p:cNvPr id="13" name="Step card 3"/>
          <p:cNvSpPr/>
          <p:nvPr/>
        </p:nvSpPr>
        <p:spPr>
          <a:xfrm>
            <a:off x="6254496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Step number 3"/>
          <p:cNvSpPr/>
          <p:nvPr/>
        </p:nvSpPr>
        <p:spPr>
          <a:xfrm>
            <a:off x="6528816" y="214884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28816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528816" y="3017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y defiende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28816" y="38404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El alumno entrega (puede usar IA) y responde preguntas sobre SU propio trabajo, con tiempo.</a:t>
            </a:r>
            <a:endParaRPr lang="en-US" sz="1500" dirty="0"/>
          </a:p>
        </p:txBody>
      </p:sp>
      <p:sp>
        <p:nvSpPr>
          <p:cNvPr id="18" name="Step card 4"/>
          <p:cNvSpPr/>
          <p:nvPr/>
        </p:nvSpPr>
        <p:spPr>
          <a:xfrm>
            <a:off x="9107424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9" name="Step number 4"/>
          <p:cNvSpPr/>
          <p:nvPr/>
        </p:nvSpPr>
        <p:spPr>
          <a:xfrm>
            <a:off x="9381744" y="21488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81744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381744" y="3017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Atiende y refuerza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381744" y="38404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El docente ve la brecha entre lo entregado y lo explicado, y qué reforzar en clase.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El docente siempre pone la nota final. Defiéndelo le muestra evidencia, no decide por él.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Paso 1: Docente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Pega la tarea que ya usa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37744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Título, curso y la tarea tal como la da hoy.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No necesita cuenta ni configurar nada.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Con un clic se crea la versión pro-IA y un enlace privado de docente.</a:t>
            </a:r>
            <a:endParaRPr lang="en-US" sz="1600" dirty="0"/>
          </a:p>
        </p:txBody>
      </p:sp>
      <p:sp>
        <p:nvSpPr>
          <p:cNvPr id="5" name="Card form"/>
          <p:cNvSpPr/>
          <p:nvPr/>
        </p:nvSpPr>
        <p:spPr>
          <a:xfrm>
            <a:off x="5623560" y="720090"/>
            <a:ext cx="6172200" cy="5189220"/>
          </a:xfrm>
          <a:prstGeom prst="roundRect">
            <a:avLst>
              <a:gd name="adj" fmla="val 141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pic>
        <p:nvPicPr>
          <p:cNvPr id="6" name="Screenshot form" descr="Captura de Defiéndelo: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57250"/>
            <a:ext cx="5897880" cy="49149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Paso 1: Resultado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 tarea queda rediseñada para la era de la IA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37744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La IA está permitida, pero la nota se gana con decisiones, verificación y explicación.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Cada criterio dice dónde se verifica: en la entrega o en la defensa.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En este caso, el 60% del peso solo se puede ganar en la defensa.</a:t>
            </a:r>
            <a:endParaRPr lang="en-US" sz="1600" dirty="0"/>
          </a:p>
        </p:txBody>
      </p:sp>
      <p:sp>
        <p:nvSpPr>
          <p:cNvPr id="5" name="Card rediseno"/>
          <p:cNvSpPr/>
          <p:nvPr/>
        </p:nvSpPr>
        <p:spPr>
          <a:xfrm>
            <a:off x="5623560" y="816777"/>
            <a:ext cx="6172200" cy="4995847"/>
          </a:xfrm>
          <a:prstGeom prst="roundRect">
            <a:avLst>
              <a:gd name="adj" fmla="val 1464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pic>
        <p:nvPicPr>
          <p:cNvPr id="6" name="Screenshot rediseno" descr="Captura de Defiéndelo: redise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953937"/>
            <a:ext cx="5897880" cy="472152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Paso 2: Prueba de estrés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¿Cuánta nota saca la IA sola?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37744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Una IA resuelve la tarea original y la rediseñada, sin alumno detrás, y se corrige con cada rúbrica.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Marca en rojo los criterios que la IA todavía resuelve sola y sugiere moverlos a la defensa o bajar su peso.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En esta ejecución detectó dos criterios regalables: la bitácora y la verificación escrita.</a:t>
            </a:r>
            <a:endParaRPr lang="en-US" sz="1600" dirty="0"/>
          </a:p>
        </p:txBody>
      </p:sp>
      <p:sp>
        <p:nvSpPr>
          <p:cNvPr id="5" name="Card estres"/>
          <p:cNvSpPr/>
          <p:nvPr/>
        </p:nvSpPr>
        <p:spPr>
          <a:xfrm>
            <a:off x="5623560" y="1653415"/>
            <a:ext cx="6172200" cy="3368290"/>
          </a:xfrm>
          <a:prstGeom prst="roundRect">
            <a:avLst>
              <a:gd name="adj" fmla="val 2172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pic>
        <p:nvPicPr>
          <p:cNvPr id="6" name="Screenshot estres" descr="Captura de Defiéndelo: est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790575"/>
            <a:ext cx="5897880" cy="30939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Paso 3: Alumno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Entrega su trabajo, con IA si quiere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37744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Entra con el enlace del docente y usa un apodo: no se guardan datos personales.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Pega su trabajo. Puede haberlo hecho con ayuda de IA.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Al entregar empieza la defensa.</a:t>
            </a:r>
            <a:endParaRPr lang="en-US" sz="1600" dirty="0"/>
          </a:p>
        </p:txBody>
      </p:sp>
      <p:sp>
        <p:nvSpPr>
          <p:cNvPr id="5" name="Card entrega"/>
          <p:cNvSpPr/>
          <p:nvPr/>
        </p:nvSpPr>
        <p:spPr>
          <a:xfrm>
            <a:off x="5790009" y="365760"/>
            <a:ext cx="5839301" cy="5897880"/>
          </a:xfrm>
          <a:prstGeom prst="roundRect">
            <a:avLst>
              <a:gd name="adj" fmla="val 1253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pic>
        <p:nvPicPr>
          <p:cNvPr id="6" name="Screenshot entrega" descr="Captura de Defiéndelo: entreg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7169" y="502920"/>
            <a:ext cx="5564981" cy="5623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Paso 3: Defensa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Preguntas sobre SU propia entrega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37744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La IA genera de 3 a 5 preguntas que citan líneas concretas del trabajo del alumno.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Piden explicar decisiones y modificar el código en vivo, no recitar definiciones.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10 minutos y sin pegar texto: hay que responder con palabras propias.</a:t>
            </a:r>
            <a:endParaRPr lang="en-US" sz="1600" dirty="0"/>
          </a:p>
        </p:txBody>
      </p:sp>
      <p:sp>
        <p:nvSpPr>
          <p:cNvPr id="5" name="Card defensa"/>
          <p:cNvSpPr/>
          <p:nvPr/>
        </p:nvSpPr>
        <p:spPr>
          <a:xfrm>
            <a:off x="5623560" y="674821"/>
            <a:ext cx="6172200" cy="5279758"/>
          </a:xfrm>
          <a:prstGeom prst="roundRect">
            <a:avLst>
              <a:gd name="adj" fmla="val 1386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pic>
        <p:nvPicPr>
          <p:cNvPr id="6" name="Screenshot defensa" descr="Captura de Defiéndelo: defens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11981"/>
            <a:ext cx="5897880" cy="500543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Paso 3: Resultado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 que entregó contra lo que explicó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37744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Por cada criterio: una barra para lo entregado y otra para lo explicado.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La diferencia aparece en rojo: es lo que entregó pero no supo defender.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Recibe una devolución concreta. La nota final la pone el docente.</a:t>
            </a:r>
            <a:endParaRPr lang="en-US" sz="1600" dirty="0"/>
          </a:p>
        </p:txBody>
      </p:sp>
      <p:sp>
        <p:nvSpPr>
          <p:cNvPr id="5" name="Card resultado"/>
          <p:cNvSpPr/>
          <p:nvPr/>
        </p:nvSpPr>
        <p:spPr>
          <a:xfrm>
            <a:off x="5623560" y="597218"/>
            <a:ext cx="6172200" cy="5434965"/>
          </a:xfrm>
          <a:prstGeom prst="roundRect">
            <a:avLst>
              <a:gd name="adj" fmla="val 1346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pic>
        <p:nvPicPr>
          <p:cNvPr id="6" name="Screenshot resultado" descr="Captura de Defiéndelo: result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4378"/>
            <a:ext cx="5897880" cy="51606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Paso 4: Docente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quién atender esta semana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37744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Los alumnos se ordenan por brecha: cuánto de lo entregado no pudieron explicar.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Bruno entregó código impecable y respondió 'no sé' a todo: brecha de 64%.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El docente comparte el enlace de la tarea desde este mismo panel.</a:t>
            </a:r>
            <a:endParaRPr lang="en-US" sz="1600" dirty="0"/>
          </a:p>
        </p:txBody>
      </p:sp>
      <p:sp>
        <p:nvSpPr>
          <p:cNvPr id="5" name="Card triage"/>
          <p:cNvSpPr/>
          <p:nvPr/>
        </p:nvSpPr>
        <p:spPr>
          <a:xfrm>
            <a:off x="5623560" y="1359608"/>
            <a:ext cx="6172200" cy="2401424"/>
          </a:xfrm>
          <a:prstGeom prst="roundRect">
            <a:avLst>
              <a:gd name="adj" fmla="val 3046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pic>
        <p:nvPicPr>
          <p:cNvPr id="6" name="Screenshot triage" descr="Captura de Defiéndelo: tri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496768"/>
            <a:ext cx="5897880" cy="2127104"/>
          </a:xfrm>
          <a:prstGeom prst="rect">
            <a:avLst/>
          </a:prstGeom>
        </p:spPr>
      </p:pic>
      <p:sp>
        <p:nvSpPr>
          <p:cNvPr id="8" name="Card enlace"/>
          <p:cNvSpPr/>
          <p:nvPr/>
        </p:nvSpPr>
        <p:spPr>
          <a:xfrm>
            <a:off x="5623560" y="4500235"/>
            <a:ext cx="6172200" cy="1515131"/>
          </a:xfrm>
          <a:prstGeom prst="roundRect">
            <a:avLst>
              <a:gd name="adj" fmla="val 4828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pic>
        <p:nvPicPr>
          <p:cNvPr id="9" name="Screenshot enlace" descr="Captura de Defiéndelo: enla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4637395"/>
            <a:ext cx="5897880" cy="124081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Paso 4: Clase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Qué reforzar en la próxima clase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37744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Agrupa los malentendidos de toda la clase, con citas textuales de los alumnos.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Propone una actividad corta (10 a 15 minutos) para cada uno.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Ejemplo real: dos alumnos creen que la búsqueda binaria funciona en listas desordenadas.</a:t>
            </a:r>
            <a:endParaRPr lang="en-US" sz="1600" dirty="0"/>
          </a:p>
        </p:txBody>
      </p:sp>
      <p:sp>
        <p:nvSpPr>
          <p:cNvPr id="5" name="Card reforzar"/>
          <p:cNvSpPr/>
          <p:nvPr/>
        </p:nvSpPr>
        <p:spPr>
          <a:xfrm>
            <a:off x="5623560" y="849005"/>
            <a:ext cx="6172200" cy="4931389"/>
          </a:xfrm>
          <a:prstGeom prst="roundRect">
            <a:avLst>
              <a:gd name="adj" fmla="val 1483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pic>
        <p:nvPicPr>
          <p:cNvPr id="6" name="Screenshot reforzar" descr="Captura de Defiéndelo: reforz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986165"/>
            <a:ext cx="5897880" cy="465706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Próximamente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Banco de tareas de la comunidad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37744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Los docentes comparten tareas rediseñadas que ya pasaron la prueba de estrés.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Un docente nuevo parte de tareas probadas en lugar de empezar de cero.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En la demo esta sección es una maqueta.</a:t>
            </a:r>
            <a:endParaRPr lang="en-US" sz="1600" dirty="0"/>
          </a:p>
        </p:txBody>
      </p:sp>
      <p:sp>
        <p:nvSpPr>
          <p:cNvPr id="5" name="Card banco"/>
          <p:cNvSpPr/>
          <p:nvPr/>
        </p:nvSpPr>
        <p:spPr>
          <a:xfrm>
            <a:off x="5623560" y="2148746"/>
            <a:ext cx="6172200" cy="2103307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pic>
        <p:nvPicPr>
          <p:cNvPr id="6" name="Screenshot banco" descr="Captura de Defiéndelo: ban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285906"/>
            <a:ext cx="5897880" cy="182898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Por dentro: simple, privado y desplegable</a:t>
            </a:r>
            <a:endParaRPr lang="en-US" sz="3200" dirty="0"/>
          </a:p>
        </p:txBody>
      </p:sp>
      <p:sp>
        <p:nvSpPr>
          <p:cNvPr id="3" name="Pillar Arquitectura"/>
          <p:cNvSpPr/>
          <p:nvPr/>
        </p:nvSpPr>
        <p:spPr>
          <a:xfrm>
            <a:off x="548640" y="160020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874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1460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Next.js 15 en Vercel.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Dominio puro con reglas de puntaje probadas (11 tests).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La IA se cambia sin tocar el resto: Claude, OpenRouter o modo demo sin clave.</a:t>
            </a:r>
            <a:endParaRPr lang="en-US" sz="1500" dirty="0"/>
          </a:p>
        </p:txBody>
      </p:sp>
      <p:sp>
        <p:nvSpPr>
          <p:cNvPr id="6" name="Pillar Confiabilidad"/>
          <p:cNvSpPr/>
          <p:nvPr/>
        </p:nvSpPr>
        <p:spPr>
          <a:xfrm>
            <a:off x="4297680" y="160020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874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Confiabilidad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51460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Respuestas de la IA validadas con esquemas.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Reglas que el modelo no puede saltarse: un 'no sé' vale 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Funciona sin internet en modo demo para presentar.</a:t>
            </a:r>
            <a:endParaRPr lang="en-US" sz="1500" dirty="0"/>
          </a:p>
        </p:txBody>
      </p:sp>
      <p:sp>
        <p:nvSpPr>
          <p:cNvPr id="9" name="Pillar Privacidad"/>
          <p:cNvSpPr/>
          <p:nvPr/>
        </p:nvSpPr>
        <p:spPr>
          <a:xfrm>
            <a:off x="8046720" y="160020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1874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51460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Alumnos con apodo, sin datos personales ni audio.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Panel docente protegido con una clave privada.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Apto para menores con un adulto presente.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IA ya hace la tarea. Defiéndelo mide lo que el alumno entiende.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9144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accent2"/>
                </a:solidFill>
              </a:rPr>
              <a:t>Prueba con un docente y sus alumnos durante el evento.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accent2"/>
                </a:solidFill>
              </a:rPr>
              <a:t>Deploy en Vercel con almacenamiento compartido.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accent2"/>
                </a:solidFill>
              </a:rPr>
              <a:t>Siguiente: banco de tareas de la comunidad y piloto en un curso real.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iendelo">
  <a:themeElements>
    <a:clrScheme name="Defiendelo">
      <a:dk1>
        <a:srgbClr val="1B2A4A"/>
      </a:dk1>
      <a:lt1>
        <a:srgbClr val="FFFFFF"/>
      </a:lt1>
      <a:dk2>
        <a:srgbClr val="5B6478"/>
      </a:dk2>
      <a:lt2>
        <a:srgbClr val="F7F9FC"/>
      </a:lt2>
      <a:accent1>
        <a:srgbClr val="C8102E"/>
      </a:accent1>
      <a:accent2>
        <a:srgbClr val="D9E2EF"/>
      </a:accent2>
      <a:accent3>
        <a:srgbClr val="2F4A7A"/>
      </a:accent3>
      <a:accent4>
        <a:srgbClr val="8A93A6"/>
      </a:accent4>
      <a:accent5>
        <a:srgbClr val="E9EEF6"/>
      </a:accent5>
      <a:accent6>
        <a:srgbClr val="7A0A1C"/>
      </a:accent6>
      <a:hlink>
        <a:srgbClr val="C8102E"/>
      </a:hlink>
      <a:folHlink>
        <a:srgbClr val="7A0A1C"/>
      </a:folHlink>
    </a:clrScheme>
    <a:fontScheme name="Defiendel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Defiéndelo: cómo funciona</dc:title>
  <dc:subject>PptxGenJS Presentation</dc:subject>
  <dc:creator>Equipo Defiéndelo</dc:creator>
  <cp:lastModifiedBy>Equipo Defiéndelo</cp:lastModifiedBy>
  <cp:revision>1</cp:revision>
  <dcterms:created xsi:type="dcterms:W3CDTF">2026-10-30T22:44:55Z</dcterms:created>
  <dcterms:modified xsi:type="dcterms:W3CDTF">2026-10-30T22:44:55Z</dcterms:modified>
</cp:coreProperties>
</file>